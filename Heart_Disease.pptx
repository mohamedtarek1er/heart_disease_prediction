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8288000" cy="10287000"/>
  <p:notesSz cx="6858000" cy="9144000"/>
  <p:embeddedFontLst>
    <p:embeddedFont>
      <p:font typeface="Archivo Black" panose="020B0604020202020204" charset="0"/>
      <p:regular r:id="rId38"/>
    </p:embeddedFont>
    <p:embeddedFont>
      <p:font typeface="League Spartan" panose="020B0604020202020204" charset="0"/>
      <p:regular r:id="rId39"/>
    </p:embeddedFont>
    <p:embeddedFont>
      <p:font typeface="Poppins" panose="00000500000000000000" pitchFamily="2" charset="0"/>
      <p:regular r:id="rId40"/>
    </p:embeddedFont>
    <p:embeddedFont>
      <p:font typeface="Roboto Bold" panose="020B0604020202020204" charset="0"/>
      <p:regular r:id="rId41"/>
    </p:embeddedFont>
    <p:embeddedFont>
      <p:font typeface="Source Sans Pro" panose="020B0503030403020204" pitchFamily="3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4220957" y="3619686"/>
            <a:ext cx="9846085" cy="2885702"/>
          </a:xfrm>
          <a:prstGeom prst="rect">
            <a:avLst/>
          </a:prstGeom>
        </p:spPr>
        <p:txBody>
          <a:bodyPr lIns="0" tIns="0" rIns="0" bIns="0" rtlCol="0" anchor="t">
            <a:spAutoFit/>
          </a:bodyPr>
          <a:lstStyle/>
          <a:p>
            <a:pPr algn="ctr">
              <a:lnSpc>
                <a:spcPts val="11572"/>
              </a:lnSpc>
            </a:pPr>
            <a:r>
              <a:rPr lang="en-US" sz="8265" b="1">
                <a:solidFill>
                  <a:srgbClr val="004AAD"/>
                </a:solidFill>
                <a:latin typeface="League Spartan"/>
                <a:ea typeface="League Spartan"/>
                <a:cs typeface="League Spartan"/>
                <a:sym typeface="League Spartan"/>
              </a:rPr>
              <a:t>HEART DISEASE PREDICTION</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ar-EG"/>
            </a:p>
          </p:txBody>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323004" y="2400043"/>
            <a:ext cx="5641992" cy="913097"/>
          </a:xfrm>
          <a:prstGeom prst="rect">
            <a:avLst/>
          </a:prstGeom>
        </p:spPr>
        <p:txBody>
          <a:bodyPr lIns="0" tIns="0" rIns="0" bIns="0" rtlCol="0" anchor="t">
            <a:spAutoFit/>
          </a:bodyPr>
          <a:lstStyle/>
          <a:p>
            <a:pPr algn="ctr">
              <a:lnSpc>
                <a:spcPts val="7424"/>
              </a:lnSpc>
            </a:pPr>
            <a:r>
              <a:rPr lang="en-US" sz="5303" b="1">
                <a:solidFill>
                  <a:srgbClr val="303642"/>
                </a:solidFill>
                <a:latin typeface="Roboto Bold"/>
                <a:ea typeface="Roboto Bold"/>
                <a:cs typeface="Roboto Bold"/>
                <a:sym typeface="Roboto Bold"/>
              </a:rPr>
              <a:t>AMIT LEARNING</a:t>
            </a:r>
          </a:p>
        </p:txBody>
      </p:sp>
      <p:sp>
        <p:nvSpPr>
          <p:cNvPr id="8" name="TextBox 8"/>
          <p:cNvSpPr txBox="1"/>
          <p:nvPr/>
        </p:nvSpPr>
        <p:spPr>
          <a:xfrm>
            <a:off x="4550772" y="6905439"/>
            <a:ext cx="9186456" cy="1425749"/>
          </a:xfrm>
          <a:prstGeom prst="rect">
            <a:avLst/>
          </a:prstGeom>
        </p:spPr>
        <p:txBody>
          <a:bodyPr lIns="0" tIns="0" rIns="0" bIns="0" rtlCol="0" anchor="t">
            <a:spAutoFit/>
          </a:bodyPr>
          <a:lstStyle/>
          <a:p>
            <a:pPr algn="ctr">
              <a:lnSpc>
                <a:spcPts val="2800"/>
              </a:lnSpc>
              <a:spcBef>
                <a:spcPct val="0"/>
              </a:spcBef>
            </a:pPr>
            <a:r>
              <a:rPr lang="en-US" sz="2000">
                <a:solidFill>
                  <a:srgbClr val="303642"/>
                </a:solidFill>
                <a:latin typeface="Poppins"/>
                <a:ea typeface="Poppins"/>
                <a:cs typeface="Poppins"/>
                <a:sym typeface="Poppins"/>
              </a:rPr>
              <a:t>A machine learning–based heart disease prediction system that analyzes patient clinical data to assess disease risk, helping enable early detection and support informed healthcare decisions through accurate and interpretable models.</a:t>
            </a:r>
          </a:p>
        </p:txBody>
      </p:sp>
      <p:grpSp>
        <p:nvGrpSpPr>
          <p:cNvPr id="9" name="Group 9"/>
          <p:cNvGrpSpPr/>
          <p:nvPr/>
        </p:nvGrpSpPr>
        <p:grpSpPr>
          <a:xfrm>
            <a:off x="16467343" y="4057750"/>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ar-EG"/>
            </a:p>
          </p:txBody>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6379957" cy="10287000"/>
            <a:chOff x="0" y="0"/>
            <a:chExt cx="1680318" cy="2709333"/>
          </a:xfrm>
        </p:grpSpPr>
        <p:sp>
          <p:nvSpPr>
            <p:cNvPr id="4" name="Freeform 4"/>
            <p:cNvSpPr/>
            <p:nvPr/>
          </p:nvSpPr>
          <p:spPr>
            <a:xfrm>
              <a:off x="0" y="0"/>
              <a:ext cx="1680318" cy="2709333"/>
            </a:xfrm>
            <a:custGeom>
              <a:avLst/>
              <a:gdLst/>
              <a:ahLst/>
              <a:cxnLst/>
              <a:rect l="l" t="t" r="r" b="b"/>
              <a:pathLst>
                <a:path w="1680318" h="2709333">
                  <a:moveTo>
                    <a:pt x="0" y="0"/>
                  </a:moveTo>
                  <a:lnTo>
                    <a:pt x="1680318" y="0"/>
                  </a:lnTo>
                  <a:lnTo>
                    <a:pt x="1680318" y="2709333"/>
                  </a:lnTo>
                  <a:lnTo>
                    <a:pt x="0" y="2709333"/>
                  </a:lnTo>
                  <a:close/>
                </a:path>
              </a:pathLst>
            </a:custGeom>
            <a:solidFill>
              <a:srgbClr val="004AAD"/>
            </a:solidFill>
          </p:spPr>
          <p:txBody>
            <a:bodyPr/>
            <a:lstStyle/>
            <a:p>
              <a:endParaRPr lang="ar-EG"/>
            </a:p>
          </p:txBody>
        </p:sp>
        <p:sp>
          <p:nvSpPr>
            <p:cNvPr id="5" name="TextBox 5"/>
            <p:cNvSpPr txBox="1"/>
            <p:nvPr/>
          </p:nvSpPr>
          <p:spPr>
            <a:xfrm>
              <a:off x="0" y="-47625"/>
              <a:ext cx="1680318"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912891" y="329023"/>
            <a:ext cx="934133" cy="93413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5912891" y="2883416"/>
            <a:ext cx="934133" cy="93413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912891" y="4184261"/>
            <a:ext cx="934133" cy="93413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7622798" y="1910171"/>
            <a:ext cx="1601933" cy="6466659"/>
            <a:chOff x="0" y="0"/>
            <a:chExt cx="421908" cy="1703153"/>
          </a:xfrm>
        </p:grpSpPr>
        <p:sp>
          <p:nvSpPr>
            <p:cNvPr id="16" name="Freeform 16"/>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7" name="TextBox 17"/>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855307" y="4430037"/>
            <a:ext cx="4669344" cy="1285899"/>
          </a:xfrm>
          <a:prstGeom prst="rect">
            <a:avLst/>
          </a:prstGeom>
        </p:spPr>
        <p:txBody>
          <a:bodyPr lIns="0" tIns="0" rIns="0" bIns="0" rtlCol="0" anchor="t">
            <a:spAutoFit/>
          </a:bodyPr>
          <a:lstStyle/>
          <a:p>
            <a:pPr algn="ctr">
              <a:lnSpc>
                <a:spcPts val="10500"/>
              </a:lnSpc>
            </a:pPr>
            <a:r>
              <a:rPr lang="en-US" sz="7500" b="1">
                <a:solidFill>
                  <a:srgbClr val="FFFFFF"/>
                </a:solidFill>
                <a:latin typeface="League Spartan"/>
                <a:ea typeface="League Spartan"/>
                <a:cs typeface="League Spartan"/>
                <a:sym typeface="League Spartan"/>
              </a:rPr>
              <a:t>AGENDA</a:t>
            </a:r>
          </a:p>
        </p:txBody>
      </p:sp>
      <p:sp>
        <p:nvSpPr>
          <p:cNvPr id="19" name="TextBox 19"/>
          <p:cNvSpPr txBox="1"/>
          <p:nvPr/>
        </p:nvSpPr>
        <p:spPr>
          <a:xfrm>
            <a:off x="5970249" y="476382"/>
            <a:ext cx="819418" cy="667989"/>
          </a:xfrm>
          <a:prstGeom prst="rect">
            <a:avLst/>
          </a:prstGeom>
        </p:spPr>
        <p:txBody>
          <a:bodyPr lIns="0" tIns="0" rIns="0" bIns="0" rtlCol="0" anchor="t">
            <a:spAutoFit/>
          </a:bodyPr>
          <a:lstStyle/>
          <a:p>
            <a:pPr algn="ctr">
              <a:lnSpc>
                <a:spcPts val="5501"/>
              </a:lnSpc>
            </a:pPr>
            <a:r>
              <a:rPr lang="en-US" sz="3929">
                <a:solidFill>
                  <a:srgbClr val="000000"/>
                </a:solidFill>
                <a:latin typeface="League Spartan"/>
                <a:ea typeface="League Spartan"/>
                <a:cs typeface="League Spartan"/>
                <a:sym typeface="League Spartan"/>
              </a:rPr>
              <a:t>1</a:t>
            </a:r>
          </a:p>
        </p:txBody>
      </p:sp>
      <p:sp>
        <p:nvSpPr>
          <p:cNvPr id="20" name="TextBox 20"/>
          <p:cNvSpPr txBox="1"/>
          <p:nvPr/>
        </p:nvSpPr>
        <p:spPr>
          <a:xfrm>
            <a:off x="5970249" y="3026013"/>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3</a:t>
            </a:r>
          </a:p>
        </p:txBody>
      </p:sp>
      <p:sp>
        <p:nvSpPr>
          <p:cNvPr id="21" name="TextBox 21"/>
          <p:cNvSpPr txBox="1"/>
          <p:nvPr/>
        </p:nvSpPr>
        <p:spPr>
          <a:xfrm>
            <a:off x="5970249" y="4327136"/>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4</a:t>
            </a:r>
          </a:p>
        </p:txBody>
      </p:sp>
      <p:grpSp>
        <p:nvGrpSpPr>
          <p:cNvPr id="22" name="Group 22"/>
          <p:cNvGrpSpPr/>
          <p:nvPr/>
        </p:nvGrpSpPr>
        <p:grpSpPr>
          <a:xfrm>
            <a:off x="5912891" y="5380332"/>
            <a:ext cx="934133" cy="934133"/>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5912891" y="6605901"/>
            <a:ext cx="934133" cy="93413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5912891" y="7906746"/>
            <a:ext cx="934133" cy="934133"/>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5970249" y="5527691"/>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5</a:t>
            </a:r>
          </a:p>
        </p:txBody>
      </p:sp>
      <p:sp>
        <p:nvSpPr>
          <p:cNvPr id="32" name="TextBox 32"/>
          <p:cNvSpPr txBox="1"/>
          <p:nvPr/>
        </p:nvSpPr>
        <p:spPr>
          <a:xfrm>
            <a:off x="5970249" y="6748498"/>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6</a:t>
            </a:r>
          </a:p>
        </p:txBody>
      </p:sp>
      <p:sp>
        <p:nvSpPr>
          <p:cNvPr id="33" name="TextBox 33"/>
          <p:cNvSpPr txBox="1"/>
          <p:nvPr/>
        </p:nvSpPr>
        <p:spPr>
          <a:xfrm>
            <a:off x="5970249" y="8049621"/>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7</a:t>
            </a:r>
          </a:p>
        </p:txBody>
      </p:sp>
      <p:grpSp>
        <p:nvGrpSpPr>
          <p:cNvPr id="34" name="Group 34"/>
          <p:cNvGrpSpPr/>
          <p:nvPr/>
        </p:nvGrpSpPr>
        <p:grpSpPr>
          <a:xfrm>
            <a:off x="5912891" y="9136154"/>
            <a:ext cx="934133" cy="934133"/>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6" name="TextBox 3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5970249" y="9279029"/>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8</a:t>
            </a:r>
          </a:p>
        </p:txBody>
      </p:sp>
      <p:sp>
        <p:nvSpPr>
          <p:cNvPr id="38" name="TextBox 38"/>
          <p:cNvSpPr txBox="1"/>
          <p:nvPr/>
        </p:nvSpPr>
        <p:spPr>
          <a:xfrm>
            <a:off x="7034571" y="275416"/>
            <a:ext cx="4706720"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Introduction</a:t>
            </a:r>
          </a:p>
        </p:txBody>
      </p:sp>
      <p:sp>
        <p:nvSpPr>
          <p:cNvPr id="39" name="TextBox 39"/>
          <p:cNvSpPr txBox="1"/>
          <p:nvPr/>
        </p:nvSpPr>
        <p:spPr>
          <a:xfrm>
            <a:off x="7123626" y="2829809"/>
            <a:ext cx="3232353"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Analysis</a:t>
            </a:r>
          </a:p>
        </p:txBody>
      </p:sp>
      <p:sp>
        <p:nvSpPr>
          <p:cNvPr id="40" name="TextBox 40"/>
          <p:cNvSpPr txBox="1"/>
          <p:nvPr/>
        </p:nvSpPr>
        <p:spPr>
          <a:xfrm>
            <a:off x="7123626" y="4130654"/>
            <a:ext cx="5493815"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Preprocessing</a:t>
            </a:r>
          </a:p>
        </p:txBody>
      </p:sp>
      <p:sp>
        <p:nvSpPr>
          <p:cNvPr id="41" name="TextBox 41"/>
          <p:cNvSpPr txBox="1"/>
          <p:nvPr/>
        </p:nvSpPr>
        <p:spPr>
          <a:xfrm>
            <a:off x="7123626" y="5326725"/>
            <a:ext cx="2716174"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Models</a:t>
            </a:r>
          </a:p>
        </p:txBody>
      </p:sp>
      <p:sp>
        <p:nvSpPr>
          <p:cNvPr id="42" name="TextBox 42"/>
          <p:cNvSpPr txBox="1"/>
          <p:nvPr/>
        </p:nvSpPr>
        <p:spPr>
          <a:xfrm>
            <a:off x="7123626" y="6552294"/>
            <a:ext cx="4023683"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Evaluation</a:t>
            </a:r>
          </a:p>
        </p:txBody>
      </p:sp>
      <p:sp>
        <p:nvSpPr>
          <p:cNvPr id="43" name="TextBox 43"/>
          <p:cNvSpPr txBox="1"/>
          <p:nvPr/>
        </p:nvSpPr>
        <p:spPr>
          <a:xfrm>
            <a:off x="7123626" y="7853139"/>
            <a:ext cx="4528610"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Deployment</a:t>
            </a:r>
          </a:p>
        </p:txBody>
      </p:sp>
      <p:sp>
        <p:nvSpPr>
          <p:cNvPr id="44" name="TextBox 44"/>
          <p:cNvSpPr txBox="1"/>
          <p:nvPr/>
        </p:nvSpPr>
        <p:spPr>
          <a:xfrm>
            <a:off x="7123626" y="9082547"/>
            <a:ext cx="4212199"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Conclusion</a:t>
            </a:r>
          </a:p>
        </p:txBody>
      </p:sp>
      <p:grpSp>
        <p:nvGrpSpPr>
          <p:cNvPr id="45" name="Group 45"/>
          <p:cNvGrpSpPr/>
          <p:nvPr/>
        </p:nvGrpSpPr>
        <p:grpSpPr>
          <a:xfrm>
            <a:off x="5912891" y="1606383"/>
            <a:ext cx="934133" cy="934133"/>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47" name="TextBox 4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48" name="TextBox 48"/>
          <p:cNvSpPr txBox="1"/>
          <p:nvPr/>
        </p:nvSpPr>
        <p:spPr>
          <a:xfrm>
            <a:off x="5970249" y="1748980"/>
            <a:ext cx="819418" cy="667989"/>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2</a:t>
            </a:r>
          </a:p>
        </p:txBody>
      </p:sp>
      <p:sp>
        <p:nvSpPr>
          <p:cNvPr id="49" name="TextBox 49"/>
          <p:cNvSpPr txBox="1"/>
          <p:nvPr/>
        </p:nvSpPr>
        <p:spPr>
          <a:xfrm>
            <a:off x="7123626" y="1552776"/>
            <a:ext cx="3232353"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6792707" cy="10287000"/>
            <a:chOff x="0" y="0"/>
            <a:chExt cx="1789026" cy="2709333"/>
          </a:xfrm>
        </p:grpSpPr>
        <p:sp>
          <p:nvSpPr>
            <p:cNvPr id="4" name="Freeform 4"/>
            <p:cNvSpPr/>
            <p:nvPr/>
          </p:nvSpPr>
          <p:spPr>
            <a:xfrm>
              <a:off x="0" y="0"/>
              <a:ext cx="1789026" cy="2709333"/>
            </a:xfrm>
            <a:custGeom>
              <a:avLst/>
              <a:gdLst/>
              <a:ahLst/>
              <a:cxnLst/>
              <a:rect l="l" t="t" r="r" b="b"/>
              <a:pathLst>
                <a:path w="1789026" h="2709333">
                  <a:moveTo>
                    <a:pt x="0" y="0"/>
                  </a:moveTo>
                  <a:lnTo>
                    <a:pt x="1789026" y="0"/>
                  </a:lnTo>
                  <a:lnTo>
                    <a:pt x="1789026" y="2709333"/>
                  </a:lnTo>
                  <a:lnTo>
                    <a:pt x="0" y="2709333"/>
                  </a:lnTo>
                  <a:close/>
                </a:path>
              </a:pathLst>
            </a:custGeom>
            <a:solidFill>
              <a:srgbClr val="004AAD"/>
            </a:solidFill>
          </p:spPr>
          <p:txBody>
            <a:bodyPr/>
            <a:lstStyle/>
            <a:p>
              <a:endParaRPr lang="ar-EG"/>
            </a:p>
          </p:txBody>
        </p:sp>
        <p:sp>
          <p:nvSpPr>
            <p:cNvPr id="5" name="TextBox 5"/>
            <p:cNvSpPr txBox="1"/>
            <p:nvPr/>
          </p:nvSpPr>
          <p:spPr>
            <a:xfrm>
              <a:off x="0" y="-47625"/>
              <a:ext cx="1789026"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446818" y="8630505"/>
            <a:ext cx="897167" cy="2183545"/>
            <a:chOff x="0" y="0"/>
            <a:chExt cx="236291" cy="575090"/>
          </a:xfrm>
        </p:grpSpPr>
        <p:sp>
          <p:nvSpPr>
            <p:cNvPr id="7" name="Freeform 7"/>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txBody>
            <a:bodyPr/>
            <a:lstStyle/>
            <a:p>
              <a:endParaRPr lang="ar-EG"/>
            </a:p>
          </p:txBody>
        </p:sp>
        <p:sp>
          <p:nvSpPr>
            <p:cNvPr id="8" name="TextBox 8"/>
            <p:cNvSpPr txBox="1"/>
            <p:nvPr/>
          </p:nvSpPr>
          <p:spPr>
            <a:xfrm>
              <a:off x="0" y="-47625"/>
              <a:ext cx="236291" cy="622715"/>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967467" y="1879447"/>
            <a:ext cx="4857773" cy="6528106"/>
            <a:chOff x="0" y="0"/>
            <a:chExt cx="3663950" cy="4923790"/>
          </a:xfrm>
        </p:grpSpPr>
        <p:sp>
          <p:nvSpPr>
            <p:cNvPr id="10" name="Freeform 10"/>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39826" r="-42239"/>
              </a:stretch>
            </a:blipFill>
          </p:spPr>
          <p:txBody>
            <a:bodyPr/>
            <a:lstStyle/>
            <a:p>
              <a:endParaRPr lang="ar-EG"/>
            </a:p>
          </p:txBody>
        </p:sp>
        <p:sp>
          <p:nvSpPr>
            <p:cNvPr id="11" name="Freeform 11"/>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ar-EG"/>
            </a:p>
          </p:txBody>
        </p:sp>
      </p:grpSp>
      <p:sp>
        <p:nvSpPr>
          <p:cNvPr id="12" name="TextBox 12"/>
          <p:cNvSpPr txBox="1"/>
          <p:nvPr/>
        </p:nvSpPr>
        <p:spPr>
          <a:xfrm>
            <a:off x="9883423" y="1165927"/>
            <a:ext cx="5315285" cy="794849"/>
          </a:xfrm>
          <a:prstGeom prst="rect">
            <a:avLst/>
          </a:prstGeom>
        </p:spPr>
        <p:txBody>
          <a:bodyPr lIns="0" tIns="0" rIns="0" bIns="0" rtlCol="0" anchor="t">
            <a:spAutoFit/>
          </a:bodyPr>
          <a:lstStyle/>
          <a:p>
            <a:pPr algn="l">
              <a:lnSpc>
                <a:spcPts val="6591"/>
              </a:lnSpc>
            </a:pPr>
            <a:r>
              <a:rPr lang="en-US" sz="4708">
                <a:solidFill>
                  <a:srgbClr val="004AAD"/>
                </a:solidFill>
                <a:latin typeface="League Spartan"/>
                <a:ea typeface="League Spartan"/>
                <a:cs typeface="League Spartan"/>
                <a:sym typeface="League Spartan"/>
              </a:rPr>
              <a:t>INTRODUCTION</a:t>
            </a:r>
          </a:p>
        </p:txBody>
      </p:sp>
      <p:sp>
        <p:nvSpPr>
          <p:cNvPr id="13" name="TextBox 13"/>
          <p:cNvSpPr txBox="1"/>
          <p:nvPr/>
        </p:nvSpPr>
        <p:spPr>
          <a:xfrm>
            <a:off x="7028410" y="2577639"/>
            <a:ext cx="11025310" cy="6680661"/>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Heart disease is one of the leading causes of death worldwide, making early detection and risk assessment essential for improving patient outcomes. With the increasing availability of healthcare data, machine learning techniques can be used to analyze clinical features and identify patterns associated with heart disease.</a:t>
            </a:r>
          </a:p>
          <a:p>
            <a:pPr algn="l">
              <a:lnSpc>
                <a:spcPts val="2940"/>
              </a:lnSpc>
              <a:spcBef>
                <a:spcPct val="0"/>
              </a:spcBef>
            </a:pPr>
            <a:endParaRPr lang="en-US" sz="2100">
              <a:solidFill>
                <a:srgbClr val="004AAD"/>
              </a:solidFill>
              <a:latin typeface="Archivo Black"/>
              <a:ea typeface="Archivo Black"/>
              <a:cs typeface="Archivo Black"/>
              <a:sym typeface="Archivo Black"/>
            </a:endParaRPr>
          </a:p>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In this project, we develop a machine learning model to predict the presence of heart disease using patient clinical data. The workflow includes data preprocessing, exploratory data analysis, feature engineering, and training multiple classification models. The performance of these models is evaluated using metrics such as accuracy, precision, recall, F1-score, and ROC-AUC to determine the most effective approach.</a:t>
            </a:r>
          </a:p>
          <a:p>
            <a:pPr algn="l">
              <a:lnSpc>
                <a:spcPts val="2940"/>
              </a:lnSpc>
              <a:spcBef>
                <a:spcPct val="0"/>
              </a:spcBef>
            </a:pPr>
            <a:endParaRPr lang="en-US" sz="2100">
              <a:solidFill>
                <a:srgbClr val="004AAD"/>
              </a:solidFill>
              <a:latin typeface="Archivo Black"/>
              <a:ea typeface="Archivo Black"/>
              <a:cs typeface="Archivo Black"/>
              <a:sym typeface="Archivo Black"/>
            </a:endParaRPr>
          </a:p>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This project demonstrates how machine learning and data science   techniques can support healthcare decision-making by providing reliable and interpretable predictions.</a:t>
            </a:r>
          </a:p>
          <a:p>
            <a:pPr algn="l">
              <a:lnSpc>
                <a:spcPts val="2940"/>
              </a:lnSpc>
            </a:pPr>
            <a:endParaRPr lang="en-US" sz="2100">
              <a:solidFill>
                <a:srgbClr val="004AAD"/>
              </a:solidFill>
              <a:latin typeface="Archivo Black"/>
              <a:ea typeface="Archivo Black"/>
              <a:cs typeface="Archivo Black"/>
              <a:sym typeface="Archiv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363176"/>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159847" y="2793399"/>
            <a:ext cx="7968305" cy="1141028"/>
          </a:xfrm>
          <a:prstGeom prst="rect">
            <a:avLst/>
          </a:prstGeom>
        </p:spPr>
        <p:txBody>
          <a:bodyPr lIns="0" tIns="0" rIns="0" bIns="0" rtlCol="0" anchor="t">
            <a:spAutoFit/>
          </a:bodyPr>
          <a:lstStyle/>
          <a:p>
            <a:pPr algn="ctr">
              <a:lnSpc>
                <a:spcPts val="9365"/>
              </a:lnSpc>
            </a:pPr>
            <a:r>
              <a:rPr lang="en-US" sz="6689">
                <a:solidFill>
                  <a:srgbClr val="004AAD"/>
                </a:solidFill>
                <a:latin typeface="League Spartan"/>
                <a:ea typeface="League Spartan"/>
                <a:cs typeface="League Spartan"/>
                <a:sym typeface="League Spartan"/>
              </a:rPr>
              <a:t>DATA INSIGHTS</a:t>
            </a:r>
          </a:p>
        </p:txBody>
      </p:sp>
      <p:sp>
        <p:nvSpPr>
          <p:cNvPr id="7" name="TextBox 7"/>
          <p:cNvSpPr txBox="1"/>
          <p:nvPr/>
        </p:nvSpPr>
        <p:spPr>
          <a:xfrm>
            <a:off x="62193" y="5636260"/>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DATA COLUMNS </a:t>
            </a:r>
          </a:p>
        </p:txBody>
      </p:sp>
      <p:sp>
        <p:nvSpPr>
          <p:cNvPr id="8" name="TextBox 8"/>
          <p:cNvSpPr txBox="1"/>
          <p:nvPr/>
        </p:nvSpPr>
        <p:spPr>
          <a:xfrm>
            <a:off x="4687686" y="5636260"/>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DATA OVERVIEW</a:t>
            </a:r>
          </a:p>
        </p:txBody>
      </p:sp>
      <p:sp>
        <p:nvSpPr>
          <p:cNvPr id="9" name="TextBox 9"/>
          <p:cNvSpPr txBox="1"/>
          <p:nvPr/>
        </p:nvSpPr>
        <p:spPr>
          <a:xfrm>
            <a:off x="9313646" y="5636260"/>
            <a:ext cx="3775043"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STATISTICAL SUMMARY</a:t>
            </a:r>
          </a:p>
        </p:txBody>
      </p:sp>
      <p:sp>
        <p:nvSpPr>
          <p:cNvPr id="10" name="TextBox 10"/>
          <p:cNvSpPr txBox="1"/>
          <p:nvPr/>
        </p:nvSpPr>
        <p:spPr>
          <a:xfrm>
            <a:off x="14450764" y="5636260"/>
            <a:ext cx="3775043"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INITIAL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581438" y="4163201"/>
            <a:ext cx="3998050" cy="1855823"/>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DATA </a:t>
            </a:r>
          </a:p>
          <a:p>
            <a:pPr algn="l">
              <a:lnSpc>
                <a:spcPts val="7431"/>
              </a:lnSpc>
            </a:pPr>
            <a:r>
              <a:rPr lang="en-US" sz="5308" b="1">
                <a:solidFill>
                  <a:srgbClr val="004AAD"/>
                </a:solidFill>
                <a:latin typeface="League Spartan"/>
                <a:ea typeface="League Spartan"/>
                <a:cs typeface="League Spartan"/>
                <a:sym typeface="League Spartan"/>
              </a:rPr>
              <a:t>COLUMNS</a:t>
            </a:r>
          </a:p>
        </p:txBody>
      </p:sp>
      <p:sp>
        <p:nvSpPr>
          <p:cNvPr id="4" name="Freeform 4"/>
          <p:cNvSpPr/>
          <p:nvPr/>
        </p:nvSpPr>
        <p:spPr>
          <a:xfrm>
            <a:off x="4834445" y="614550"/>
            <a:ext cx="12780104" cy="9057899"/>
          </a:xfrm>
          <a:custGeom>
            <a:avLst/>
            <a:gdLst/>
            <a:ahLst/>
            <a:cxnLst/>
            <a:rect l="l" t="t" r="r" b="b"/>
            <a:pathLst>
              <a:path w="12780104" h="9057899">
                <a:moveTo>
                  <a:pt x="0" y="0"/>
                </a:moveTo>
                <a:lnTo>
                  <a:pt x="12780104" y="0"/>
                </a:lnTo>
                <a:lnTo>
                  <a:pt x="12780104" y="9057900"/>
                </a:lnTo>
                <a:lnTo>
                  <a:pt x="0" y="9057900"/>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581438" y="4163201"/>
            <a:ext cx="3998050" cy="1855823"/>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DATA OVERVIEW</a:t>
            </a:r>
          </a:p>
        </p:txBody>
      </p:sp>
      <p:sp>
        <p:nvSpPr>
          <p:cNvPr id="4" name="Freeform 4"/>
          <p:cNvSpPr/>
          <p:nvPr/>
        </p:nvSpPr>
        <p:spPr>
          <a:xfrm>
            <a:off x="4707276" y="1075033"/>
            <a:ext cx="13339237" cy="8136935"/>
          </a:xfrm>
          <a:custGeom>
            <a:avLst/>
            <a:gdLst/>
            <a:ahLst/>
            <a:cxnLst/>
            <a:rect l="l" t="t" r="r" b="b"/>
            <a:pathLst>
              <a:path w="13339237" h="8136935">
                <a:moveTo>
                  <a:pt x="0" y="0"/>
                </a:moveTo>
                <a:lnTo>
                  <a:pt x="13339237" y="0"/>
                </a:lnTo>
                <a:lnTo>
                  <a:pt x="13339237" y="8136934"/>
                </a:lnTo>
                <a:lnTo>
                  <a:pt x="0" y="8136934"/>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7144975" y="1385918"/>
            <a:ext cx="3998050" cy="1588087"/>
          </a:xfrm>
          <a:prstGeom prst="rect">
            <a:avLst/>
          </a:prstGeom>
        </p:spPr>
        <p:txBody>
          <a:bodyPr lIns="0" tIns="0" rIns="0" bIns="0" rtlCol="0" anchor="t">
            <a:spAutoFit/>
          </a:bodyPr>
          <a:lstStyle/>
          <a:p>
            <a:pPr algn="ctr">
              <a:lnSpc>
                <a:spcPts val="6439"/>
              </a:lnSpc>
            </a:pPr>
            <a:r>
              <a:rPr lang="en-US" sz="4599" b="1">
                <a:solidFill>
                  <a:srgbClr val="004AAD"/>
                </a:solidFill>
                <a:latin typeface="League Spartan"/>
                <a:ea typeface="League Spartan"/>
                <a:cs typeface="League Spartan"/>
                <a:sym typeface="League Spartan"/>
              </a:rPr>
              <a:t>STATISTICAL SUMMARY</a:t>
            </a:r>
          </a:p>
        </p:txBody>
      </p:sp>
      <p:sp>
        <p:nvSpPr>
          <p:cNvPr id="4" name="Freeform 4"/>
          <p:cNvSpPr/>
          <p:nvPr/>
        </p:nvSpPr>
        <p:spPr>
          <a:xfrm>
            <a:off x="861515" y="3763041"/>
            <a:ext cx="16564969" cy="5052316"/>
          </a:xfrm>
          <a:custGeom>
            <a:avLst/>
            <a:gdLst/>
            <a:ahLst/>
            <a:cxnLst/>
            <a:rect l="l" t="t" r="r" b="b"/>
            <a:pathLst>
              <a:path w="16564969" h="5052316">
                <a:moveTo>
                  <a:pt x="0" y="0"/>
                </a:moveTo>
                <a:lnTo>
                  <a:pt x="16564970" y="0"/>
                </a:lnTo>
                <a:lnTo>
                  <a:pt x="16564970" y="5052316"/>
                </a:lnTo>
                <a:lnTo>
                  <a:pt x="0" y="5052316"/>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73448" y="3744409"/>
            <a:ext cx="5536108" cy="5318260"/>
            <a:chOff x="0" y="0"/>
            <a:chExt cx="1458070" cy="1400694"/>
          </a:xfrm>
        </p:grpSpPr>
        <p:sp>
          <p:nvSpPr>
            <p:cNvPr id="7" name="Freeform 7"/>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615291"/>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sp>
        <p:nvSpPr>
          <p:cNvPr id="10" name="TextBox 10"/>
          <p:cNvSpPr txBox="1"/>
          <p:nvPr/>
        </p:nvSpPr>
        <p:spPr>
          <a:xfrm>
            <a:off x="377304" y="5314383"/>
            <a:ext cx="5128395" cy="3521511"/>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THE DATASET CONTAINS A LARGE NUMBER OF RECORDS (APPROXIMATELY 10,000 SAMPLES) AND A DIVERSE SET OF FEATURES, INCLUDING DEMOGRAPHIC INFORMATION, LIFESTYLE FACTORS, CLINICAL MEASUREMENTS, AND BIOCHEMICAL MARKERS. THIS DIVERSITY ALLOWS THE MODEL TO LEARN COMPLEX RELATIONSHIPS BETWEEN LIFESTYLE HABITS, MEDICAL CONDITIONS, AND HEART DISEASE RISK.</a:t>
            </a:r>
          </a:p>
        </p:txBody>
      </p:sp>
      <p:sp>
        <p:nvSpPr>
          <p:cNvPr id="11" name="TextBox 11"/>
          <p:cNvSpPr txBox="1"/>
          <p:nvPr/>
        </p:nvSpPr>
        <p:spPr>
          <a:xfrm>
            <a:off x="0" y="2261597"/>
            <a:ext cx="18288000" cy="701762"/>
          </a:xfrm>
          <a:prstGeom prst="rect">
            <a:avLst/>
          </a:prstGeom>
        </p:spPr>
        <p:txBody>
          <a:bodyPr lIns="0" tIns="0" rIns="0" bIns="0" rtlCol="0" anchor="t">
            <a:spAutoFit/>
          </a:bodyPr>
          <a:lstStyle/>
          <a:p>
            <a:pPr algn="ctr">
              <a:lnSpc>
                <a:spcPts val="2800"/>
              </a:lnSpc>
              <a:spcBef>
                <a:spcPct val="0"/>
              </a:spcBef>
            </a:pPr>
            <a:r>
              <a:rPr lang="en-US" sz="2000" b="1">
                <a:solidFill>
                  <a:srgbClr val="000000"/>
                </a:solidFill>
                <a:latin typeface="League Spartan"/>
                <a:ea typeface="League Spartan"/>
                <a:cs typeface="League Spartan"/>
                <a:sym typeface="League Spartan"/>
              </a:rPr>
              <a:t>BEFORE PERFORMING DETAILED ANALYSIS AND MODEL TRAINING, AN INITIAL EXPLORATION OF THE DATASET REVEALS SEVERAL IMPORTANT OBSERVATIONS REGARDING DATA QUALITY, FEATURE DIVERSITY, AND POTENTIAL CHALLENGES.</a:t>
            </a:r>
          </a:p>
        </p:txBody>
      </p:sp>
      <p:sp>
        <p:nvSpPr>
          <p:cNvPr id="12" name="TextBox 12"/>
          <p:cNvSpPr txBox="1"/>
          <p:nvPr/>
        </p:nvSpPr>
        <p:spPr>
          <a:xfrm>
            <a:off x="963479" y="4050956"/>
            <a:ext cx="3956045"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 DATASET SIZE AND </a:t>
            </a:r>
          </a:p>
          <a:p>
            <a:pPr algn="ctr">
              <a:lnSpc>
                <a:spcPts val="4200"/>
              </a:lnSpc>
              <a:spcBef>
                <a:spcPct val="0"/>
              </a:spcBef>
            </a:pPr>
            <a:r>
              <a:rPr lang="en-US" sz="3000" b="1">
                <a:solidFill>
                  <a:srgbClr val="FFFFFF"/>
                </a:solidFill>
                <a:latin typeface="League Spartan"/>
                <a:ea typeface="League Spartan"/>
                <a:cs typeface="League Spartan"/>
                <a:sym typeface="League Spartan"/>
              </a:rPr>
              <a:t>FEATURE VARIETY</a:t>
            </a:r>
          </a:p>
        </p:txBody>
      </p:sp>
      <p:grpSp>
        <p:nvGrpSpPr>
          <p:cNvPr id="13" name="Group 13"/>
          <p:cNvGrpSpPr/>
          <p:nvPr/>
        </p:nvGrpSpPr>
        <p:grpSpPr>
          <a:xfrm>
            <a:off x="6202498" y="3744409"/>
            <a:ext cx="5536108" cy="5318260"/>
            <a:chOff x="0" y="0"/>
            <a:chExt cx="1458070" cy="1400694"/>
          </a:xfrm>
        </p:grpSpPr>
        <p:sp>
          <p:nvSpPr>
            <p:cNvPr id="14" name="Freeform 14"/>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15" name="TextBox 15"/>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6406355" y="5314383"/>
            <a:ext cx="5128395" cy="3521511"/>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THE DATASET INCLUDES A MIX OF NUMERICAL FEATURES (E.G., AGE, BLOOD PRESSURE, BMI, CHOLESTEROL LEVEL, TRIGLYCERIDE LEVEL) AND CATEGORICAL FEATURES (E.G., GENDER, EXERCISE HABITS, SMOKING, DIABETES). THIS INDICATES THAT APPROPRIATE PREPROCESSING STEPS SUCH AS ENCODING CATEGORICAL VARIABLES AND SCALING NUMERICAL FEATURES WILL BE REQUIRED BEFORE MODEL TRAINING.</a:t>
            </a:r>
          </a:p>
        </p:txBody>
      </p:sp>
      <p:sp>
        <p:nvSpPr>
          <p:cNvPr id="17" name="TextBox 17"/>
          <p:cNvSpPr txBox="1"/>
          <p:nvPr/>
        </p:nvSpPr>
        <p:spPr>
          <a:xfrm>
            <a:off x="6308646" y="4050956"/>
            <a:ext cx="5323812"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DATA TYPES AND FEATURE </a:t>
            </a:r>
          </a:p>
          <a:p>
            <a:pPr algn="ctr">
              <a:lnSpc>
                <a:spcPts val="4200"/>
              </a:lnSpc>
              <a:spcBef>
                <a:spcPct val="0"/>
              </a:spcBef>
            </a:pPr>
            <a:r>
              <a:rPr lang="en-US" sz="3000" b="1">
                <a:solidFill>
                  <a:srgbClr val="FFFFFF"/>
                </a:solidFill>
                <a:latin typeface="League Spartan"/>
                <a:ea typeface="League Spartan"/>
                <a:cs typeface="League Spartan"/>
                <a:sym typeface="League Spartan"/>
              </a:rPr>
              <a:t>COMPOSITION</a:t>
            </a:r>
          </a:p>
        </p:txBody>
      </p:sp>
      <p:grpSp>
        <p:nvGrpSpPr>
          <p:cNvPr id="18" name="Group 18"/>
          <p:cNvGrpSpPr/>
          <p:nvPr/>
        </p:nvGrpSpPr>
        <p:grpSpPr>
          <a:xfrm>
            <a:off x="12231548" y="3744409"/>
            <a:ext cx="5536108" cy="5318260"/>
            <a:chOff x="0" y="0"/>
            <a:chExt cx="1458070" cy="1400694"/>
          </a:xfrm>
        </p:grpSpPr>
        <p:sp>
          <p:nvSpPr>
            <p:cNvPr id="19" name="Freeform 19"/>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20" name="TextBox 20"/>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2433931" y="5323908"/>
            <a:ext cx="5128395" cy="3323348"/>
          </a:xfrm>
          <a:prstGeom prst="rect">
            <a:avLst/>
          </a:prstGeom>
        </p:spPr>
        <p:txBody>
          <a:bodyPr lIns="0" tIns="0" rIns="0" bIns="0" rtlCol="0" anchor="t">
            <a:spAutoFit/>
          </a:bodyPr>
          <a:lstStyle/>
          <a:p>
            <a:pPr algn="ctr">
              <a:lnSpc>
                <a:spcPts val="2659"/>
              </a:lnSpc>
            </a:pPr>
            <a:r>
              <a:rPr lang="en-US" sz="1899">
                <a:solidFill>
                  <a:srgbClr val="FFFFFF"/>
                </a:solidFill>
                <a:latin typeface="Source Sans Pro"/>
                <a:ea typeface="Source Sans Pro"/>
                <a:cs typeface="Source Sans Pro"/>
                <a:sym typeface="Source Sans Pro"/>
              </a:rPr>
              <a:t>SEVERAL COLUMNS CONTAIN MISSING VALUES, THOUGH MOST FEATURES HAVE A RELATIVELY LOW PERCENTAGE OF NULL VALUES (BELOW 1%). HOWEVER, THE ALCOHOL CONSUMPTION FEATURE STANDS OUT WITH A SIGNIFICANTLY HIGHER MISSING RATE (APPROXIMATELY 25%), WHICH MAY IMPACT MODEL PERFORMANCE IF NOT HANDLED CAREFULLY. THIS SUGGESTS THE NEED FOR THOUGHTFUL IMPUTATION STRATEGIES OR FEATURE-SPECIFIC PREPROCESSING DECISIONS.</a:t>
            </a:r>
          </a:p>
        </p:txBody>
      </p:sp>
      <p:sp>
        <p:nvSpPr>
          <p:cNvPr id="22" name="TextBox 22"/>
          <p:cNvSpPr txBox="1"/>
          <p:nvPr/>
        </p:nvSpPr>
        <p:spPr>
          <a:xfrm>
            <a:off x="11884653" y="4050956"/>
            <a:ext cx="6229900"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 MISSING VALUES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20343" y="1763675"/>
            <a:ext cx="5536108" cy="4679314"/>
            <a:chOff x="0" y="0"/>
            <a:chExt cx="1458070" cy="1232412"/>
          </a:xfrm>
        </p:grpSpPr>
        <p:sp>
          <p:nvSpPr>
            <p:cNvPr id="7" name="Freeform 7"/>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519872"/>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sp>
        <p:nvSpPr>
          <p:cNvPr id="10" name="TextBox 10"/>
          <p:cNvSpPr txBox="1"/>
          <p:nvPr/>
        </p:nvSpPr>
        <p:spPr>
          <a:xfrm>
            <a:off x="724200" y="3333650"/>
            <a:ext cx="5128395" cy="2816573"/>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MANY CATEGORICAL VARIABLES HAVE A LIMITED NUMBER OF UNIQUE VALUES, SUCH AS GENDER (MALE/FEMALE), SMOKING (YES/NO), AND DIABETES (YES/NO). THIS STRUCTURE SIMPLIFIES ENCODING BUT ALSO HIGHLIGHTS THE IMPORTANCE OF CHECKING CLASS BALANCE WITHIN THESE FEATURES TO AVOID BIASED LEARNING.</a:t>
            </a:r>
          </a:p>
        </p:txBody>
      </p:sp>
      <p:sp>
        <p:nvSpPr>
          <p:cNvPr id="11" name="TextBox 11"/>
          <p:cNvSpPr txBox="1"/>
          <p:nvPr/>
        </p:nvSpPr>
        <p:spPr>
          <a:xfrm>
            <a:off x="173448" y="2070222"/>
            <a:ext cx="6229900"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CATEGORICAL FEATURE BALANCE</a:t>
            </a:r>
          </a:p>
        </p:txBody>
      </p:sp>
      <p:grpSp>
        <p:nvGrpSpPr>
          <p:cNvPr id="12" name="Group 12"/>
          <p:cNvGrpSpPr/>
          <p:nvPr/>
        </p:nvGrpSpPr>
        <p:grpSpPr>
          <a:xfrm>
            <a:off x="6549394" y="1763675"/>
            <a:ext cx="5536108" cy="4679314"/>
            <a:chOff x="0" y="0"/>
            <a:chExt cx="1458070" cy="1232412"/>
          </a:xfrm>
        </p:grpSpPr>
        <p:sp>
          <p:nvSpPr>
            <p:cNvPr id="13" name="Freeform 13"/>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14" name="TextBox 14"/>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6753250" y="3333650"/>
            <a:ext cx="5128395" cy="2816573"/>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NUMERICAL FEATURES SUCH AS CHOLESTEROL LEVEL, TRIGLYCERIDE LEVEL, CRP LEVEL, AND HOMOCYSTEINE LEVEL EXHIBIT A WIDE RANGE OF VALUES. THIS VARIABILITY SUGGESTS THE PRESENCE OF OUTLIERS AND DIFFERING SCALES, MAKING FEATURE SCALING AND OUTLIER ANALYSIS ESSENTIAL STEPS IN THE PREPROCESSING PHASE.</a:t>
            </a:r>
          </a:p>
        </p:txBody>
      </p:sp>
      <p:sp>
        <p:nvSpPr>
          <p:cNvPr id="16" name="TextBox 16"/>
          <p:cNvSpPr txBox="1"/>
          <p:nvPr/>
        </p:nvSpPr>
        <p:spPr>
          <a:xfrm>
            <a:off x="7224174" y="2070222"/>
            <a:ext cx="4282026" cy="1057198"/>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FFFFFF"/>
                </a:solidFill>
                <a:latin typeface="League Spartan"/>
                <a:ea typeface="League Spartan"/>
                <a:cs typeface="League Spartan"/>
                <a:sym typeface="League Spartan"/>
              </a:rPr>
              <a:t>NUMERICAL FEATURE</a:t>
            </a:r>
          </a:p>
          <a:p>
            <a:pPr algn="ctr">
              <a:lnSpc>
                <a:spcPts val="4200"/>
              </a:lnSpc>
              <a:spcBef>
                <a:spcPct val="0"/>
              </a:spcBef>
            </a:pPr>
            <a:r>
              <a:rPr lang="en-US" sz="3000" b="1" dirty="0">
                <a:solidFill>
                  <a:srgbClr val="FFFFFF"/>
                </a:solidFill>
                <a:latin typeface="League Spartan"/>
                <a:ea typeface="League Spartan"/>
                <a:cs typeface="League Spartan"/>
                <a:sym typeface="League Spartan"/>
              </a:rPr>
              <a:t> VARIABILITY</a:t>
            </a:r>
          </a:p>
        </p:txBody>
      </p:sp>
      <p:grpSp>
        <p:nvGrpSpPr>
          <p:cNvPr id="17" name="Group 17"/>
          <p:cNvGrpSpPr/>
          <p:nvPr/>
        </p:nvGrpSpPr>
        <p:grpSpPr>
          <a:xfrm>
            <a:off x="12578444" y="1763675"/>
            <a:ext cx="5536108" cy="4679314"/>
            <a:chOff x="0" y="0"/>
            <a:chExt cx="1458070" cy="1232412"/>
          </a:xfrm>
        </p:grpSpPr>
        <p:sp>
          <p:nvSpPr>
            <p:cNvPr id="18" name="Freeform 18"/>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19" name="TextBox 19"/>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2780827" y="3343175"/>
            <a:ext cx="5128395" cy="2656646"/>
          </a:xfrm>
          <a:prstGeom prst="rect">
            <a:avLst/>
          </a:prstGeom>
        </p:spPr>
        <p:txBody>
          <a:bodyPr lIns="0" tIns="0" rIns="0" bIns="0" rtlCol="0" anchor="t">
            <a:spAutoFit/>
          </a:bodyPr>
          <a:lstStyle/>
          <a:p>
            <a:pPr algn="ctr">
              <a:lnSpc>
                <a:spcPts val="2659"/>
              </a:lnSpc>
            </a:pPr>
            <a:r>
              <a:rPr lang="en-US" sz="1899">
                <a:solidFill>
                  <a:srgbClr val="FFFFFF"/>
                </a:solidFill>
                <a:latin typeface="Source Sans Pro"/>
                <a:ea typeface="Source Sans Pro"/>
                <a:cs typeface="Source Sans Pro"/>
                <a:sym typeface="Source Sans Pro"/>
              </a:rPr>
              <a:t>THE TARGET VARIABLE, HEART DISEASE STATUS, CONTAINS NO MISSING VALUES, WHICH IS IDEAL FOR SUPERVISED LEARNING. HOWEVER, ITS CLASS DISTRIBUTION SHOULD BE EXAMINED TO DETERMINE WHETHER THE DATASET IS BALANCED OR REQUIRES IMBALANCE HANDLING TECHNIQUES SUCH AS CLASS WEIGHTING OR RESAMPLING.</a:t>
            </a:r>
          </a:p>
        </p:txBody>
      </p:sp>
      <p:sp>
        <p:nvSpPr>
          <p:cNvPr id="21" name="TextBox 21"/>
          <p:cNvSpPr txBox="1"/>
          <p:nvPr/>
        </p:nvSpPr>
        <p:spPr>
          <a:xfrm>
            <a:off x="13515731" y="2070222"/>
            <a:ext cx="3661535"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TARGET VARIABLE </a:t>
            </a:r>
          </a:p>
          <a:p>
            <a:pPr algn="ctr">
              <a:lnSpc>
                <a:spcPts val="4200"/>
              </a:lnSpc>
              <a:spcBef>
                <a:spcPct val="0"/>
              </a:spcBef>
            </a:pPr>
            <a:r>
              <a:rPr lang="en-US" sz="3000" b="1">
                <a:solidFill>
                  <a:srgbClr val="FFFFFF"/>
                </a:solidFill>
                <a:latin typeface="League Spartan"/>
                <a:ea typeface="League Spartan"/>
                <a:cs typeface="League Spartan"/>
                <a:sym typeface="League Spartan"/>
              </a:rPr>
              <a:t>QUALITY</a:t>
            </a:r>
          </a:p>
        </p:txBody>
      </p:sp>
      <p:grpSp>
        <p:nvGrpSpPr>
          <p:cNvPr id="22" name="Group 22"/>
          <p:cNvGrpSpPr/>
          <p:nvPr/>
        </p:nvGrpSpPr>
        <p:grpSpPr>
          <a:xfrm>
            <a:off x="2968232" y="6936314"/>
            <a:ext cx="12351536" cy="2523711"/>
            <a:chOff x="0" y="0"/>
            <a:chExt cx="3253079" cy="664681"/>
          </a:xfrm>
        </p:grpSpPr>
        <p:sp>
          <p:nvSpPr>
            <p:cNvPr id="23" name="Freeform 23"/>
            <p:cNvSpPr/>
            <p:nvPr/>
          </p:nvSpPr>
          <p:spPr>
            <a:xfrm>
              <a:off x="0" y="0"/>
              <a:ext cx="3253079" cy="664681"/>
            </a:xfrm>
            <a:custGeom>
              <a:avLst/>
              <a:gdLst/>
              <a:ahLst/>
              <a:cxnLst/>
              <a:rect l="l" t="t" r="r" b="b"/>
              <a:pathLst>
                <a:path w="3253079" h="664681">
                  <a:moveTo>
                    <a:pt x="31967" y="0"/>
                  </a:moveTo>
                  <a:lnTo>
                    <a:pt x="3221113" y="0"/>
                  </a:lnTo>
                  <a:cubicBezTo>
                    <a:pt x="3238767" y="0"/>
                    <a:pt x="3253079" y="14312"/>
                    <a:pt x="3253079" y="31967"/>
                  </a:cubicBezTo>
                  <a:lnTo>
                    <a:pt x="3253079" y="632714"/>
                  </a:lnTo>
                  <a:cubicBezTo>
                    <a:pt x="3253079" y="650369"/>
                    <a:pt x="3238767" y="664681"/>
                    <a:pt x="3221113" y="664681"/>
                  </a:cubicBezTo>
                  <a:lnTo>
                    <a:pt x="31967" y="664681"/>
                  </a:lnTo>
                  <a:cubicBezTo>
                    <a:pt x="14312" y="664681"/>
                    <a:pt x="0" y="650369"/>
                    <a:pt x="0" y="632714"/>
                  </a:cubicBezTo>
                  <a:lnTo>
                    <a:pt x="0" y="31967"/>
                  </a:lnTo>
                  <a:cubicBezTo>
                    <a:pt x="0" y="14312"/>
                    <a:pt x="14312" y="0"/>
                    <a:pt x="31967" y="0"/>
                  </a:cubicBezTo>
                  <a:close/>
                </a:path>
              </a:pathLst>
            </a:custGeom>
            <a:solidFill>
              <a:srgbClr val="004AAD"/>
            </a:solidFill>
          </p:spPr>
          <p:txBody>
            <a:bodyPr/>
            <a:lstStyle/>
            <a:p>
              <a:endParaRPr lang="ar-EG"/>
            </a:p>
          </p:txBody>
        </p:sp>
        <p:sp>
          <p:nvSpPr>
            <p:cNvPr id="24" name="TextBox 24"/>
            <p:cNvSpPr txBox="1"/>
            <p:nvPr/>
          </p:nvSpPr>
          <p:spPr>
            <a:xfrm>
              <a:off x="0" y="-47625"/>
              <a:ext cx="3253079" cy="712306"/>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3423053" y="8556538"/>
            <a:ext cx="11441893" cy="701762"/>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NO DUPLICATE ROWS WERE DETECTED IN THE DATASET, INDICATING GOOD DATA INTEGRITY AND REDUCING THE NEED FOR DUPLICATE HANDLING DURING PREPROCESSING.</a:t>
            </a:r>
          </a:p>
        </p:txBody>
      </p:sp>
      <p:sp>
        <p:nvSpPr>
          <p:cNvPr id="26" name="TextBox 26"/>
          <p:cNvSpPr txBox="1"/>
          <p:nvPr/>
        </p:nvSpPr>
        <p:spPr>
          <a:xfrm>
            <a:off x="6122761" y="7261718"/>
            <a:ext cx="6042479" cy="1254571"/>
          </a:xfrm>
          <a:prstGeom prst="rect">
            <a:avLst/>
          </a:prstGeom>
        </p:spPr>
        <p:txBody>
          <a:bodyPr lIns="0" tIns="0" rIns="0" bIns="0" rtlCol="0" anchor="t">
            <a:spAutoFit/>
          </a:bodyPr>
          <a:lstStyle/>
          <a:p>
            <a:pPr algn="ctr">
              <a:lnSpc>
                <a:spcPts val="5036"/>
              </a:lnSpc>
              <a:spcBef>
                <a:spcPct val="0"/>
              </a:spcBef>
            </a:pPr>
            <a:r>
              <a:rPr lang="en-US" sz="3597" b="1">
                <a:solidFill>
                  <a:srgbClr val="FFFFFF"/>
                </a:solidFill>
                <a:latin typeface="League Spartan"/>
                <a:ea typeface="League Spartan"/>
                <a:cs typeface="League Spartan"/>
                <a:sym typeface="League Spartan"/>
              </a:rPr>
              <a:t>DUPLICATE </a:t>
            </a:r>
          </a:p>
          <a:p>
            <a:pPr algn="ctr">
              <a:lnSpc>
                <a:spcPts val="5036"/>
              </a:lnSpc>
              <a:spcBef>
                <a:spcPct val="0"/>
              </a:spcBef>
            </a:pPr>
            <a:r>
              <a:rPr lang="en-US" sz="3597" b="1">
                <a:solidFill>
                  <a:srgbClr val="FFFFFF"/>
                </a:solidFill>
                <a:latin typeface="League Spartan"/>
                <a:ea typeface="League Spartan"/>
                <a:cs typeface="League Spartan"/>
                <a:sym typeface="League Spartan"/>
              </a:rPr>
              <a:t>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24440" y="923925"/>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grpSp>
        <p:nvGrpSpPr>
          <p:cNvPr id="7" name="Group 7"/>
          <p:cNvGrpSpPr/>
          <p:nvPr/>
        </p:nvGrpSpPr>
        <p:grpSpPr>
          <a:xfrm>
            <a:off x="1646863" y="2556515"/>
            <a:ext cx="14994275" cy="6144672"/>
            <a:chOff x="0" y="0"/>
            <a:chExt cx="2955781" cy="1211283"/>
          </a:xfrm>
        </p:grpSpPr>
        <p:sp>
          <p:nvSpPr>
            <p:cNvPr id="8" name="Freeform 8"/>
            <p:cNvSpPr/>
            <p:nvPr/>
          </p:nvSpPr>
          <p:spPr>
            <a:xfrm>
              <a:off x="0" y="0"/>
              <a:ext cx="2955781" cy="1211283"/>
            </a:xfrm>
            <a:custGeom>
              <a:avLst/>
              <a:gdLst/>
              <a:ahLst/>
              <a:cxnLst/>
              <a:rect l="l" t="t" r="r" b="b"/>
              <a:pathLst>
                <a:path w="2955781" h="1211283">
                  <a:moveTo>
                    <a:pt x="26333" y="0"/>
                  </a:moveTo>
                  <a:lnTo>
                    <a:pt x="2929449" y="0"/>
                  </a:lnTo>
                  <a:cubicBezTo>
                    <a:pt x="2936432" y="0"/>
                    <a:pt x="2943130" y="2774"/>
                    <a:pt x="2948068" y="7713"/>
                  </a:cubicBezTo>
                  <a:cubicBezTo>
                    <a:pt x="2953007" y="12651"/>
                    <a:pt x="2955781" y="19349"/>
                    <a:pt x="2955781" y="26333"/>
                  </a:cubicBezTo>
                  <a:lnTo>
                    <a:pt x="2955781" y="1184950"/>
                  </a:lnTo>
                  <a:cubicBezTo>
                    <a:pt x="2955781" y="1199493"/>
                    <a:pt x="2943991" y="1211283"/>
                    <a:pt x="2929449" y="1211283"/>
                  </a:cubicBezTo>
                  <a:lnTo>
                    <a:pt x="26333" y="1211283"/>
                  </a:lnTo>
                  <a:cubicBezTo>
                    <a:pt x="19349" y="1211283"/>
                    <a:pt x="12651" y="1208508"/>
                    <a:pt x="7713" y="1203570"/>
                  </a:cubicBezTo>
                  <a:cubicBezTo>
                    <a:pt x="2774" y="1198632"/>
                    <a:pt x="0" y="1191934"/>
                    <a:pt x="0" y="1184950"/>
                  </a:cubicBezTo>
                  <a:lnTo>
                    <a:pt x="0" y="26333"/>
                  </a:lnTo>
                  <a:cubicBezTo>
                    <a:pt x="0" y="19349"/>
                    <a:pt x="2774" y="12651"/>
                    <a:pt x="7713" y="7713"/>
                  </a:cubicBezTo>
                  <a:cubicBezTo>
                    <a:pt x="12651" y="2774"/>
                    <a:pt x="19349" y="0"/>
                    <a:pt x="26333" y="0"/>
                  </a:cubicBezTo>
                  <a:close/>
                </a:path>
              </a:pathLst>
            </a:custGeom>
            <a:solidFill>
              <a:srgbClr val="004AAD"/>
            </a:solidFill>
          </p:spPr>
          <p:txBody>
            <a:bodyPr/>
            <a:lstStyle/>
            <a:p>
              <a:endParaRPr lang="ar-EG"/>
            </a:p>
          </p:txBody>
        </p:sp>
        <p:sp>
          <p:nvSpPr>
            <p:cNvPr id="9" name="TextBox 9"/>
            <p:cNvSpPr txBox="1"/>
            <p:nvPr/>
          </p:nvSpPr>
          <p:spPr>
            <a:xfrm>
              <a:off x="0" y="-47625"/>
              <a:ext cx="2955781" cy="1258908"/>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7479198" y="3088825"/>
            <a:ext cx="3417401" cy="829330"/>
          </a:xfrm>
          <a:prstGeom prst="rect">
            <a:avLst/>
          </a:prstGeom>
        </p:spPr>
        <p:txBody>
          <a:bodyPr wrap="square" lIns="0" tIns="0" rIns="0" bIns="0" rtlCol="0" anchor="t">
            <a:spAutoFit/>
          </a:bodyPr>
          <a:lstStyle/>
          <a:p>
            <a:pPr algn="ctr">
              <a:lnSpc>
                <a:spcPts val="6729"/>
              </a:lnSpc>
              <a:spcBef>
                <a:spcPct val="0"/>
              </a:spcBef>
            </a:pPr>
            <a:r>
              <a:rPr lang="en-US" sz="4806" b="1" dirty="0">
                <a:solidFill>
                  <a:srgbClr val="FFFFFF"/>
                </a:solidFill>
                <a:latin typeface="League Spartan"/>
                <a:ea typeface="League Spartan"/>
                <a:cs typeface="League Spartan"/>
                <a:sym typeface="League Spartan"/>
              </a:rPr>
              <a:t>SUMMARY</a:t>
            </a:r>
          </a:p>
        </p:txBody>
      </p:sp>
      <p:sp>
        <p:nvSpPr>
          <p:cNvPr id="11" name="TextBox 11"/>
          <p:cNvSpPr txBox="1"/>
          <p:nvPr/>
        </p:nvSpPr>
        <p:spPr>
          <a:xfrm>
            <a:off x="2296742" y="4193181"/>
            <a:ext cx="13694516" cy="3867576"/>
          </a:xfrm>
          <a:prstGeom prst="rect">
            <a:avLst/>
          </a:prstGeom>
        </p:spPr>
        <p:txBody>
          <a:bodyPr lIns="0" tIns="0" rIns="0" bIns="0" rtlCol="0" anchor="t">
            <a:spAutoFit/>
          </a:bodyPr>
          <a:lstStyle/>
          <a:p>
            <a:pPr algn="ctr">
              <a:lnSpc>
                <a:spcPts val="4404"/>
              </a:lnSpc>
            </a:pPr>
            <a:r>
              <a:rPr lang="en-US" sz="3145">
                <a:solidFill>
                  <a:srgbClr val="FFFFFF"/>
                </a:solidFill>
                <a:latin typeface="Source Sans Pro"/>
                <a:ea typeface="Source Sans Pro"/>
                <a:cs typeface="Source Sans Pro"/>
                <a:sym typeface="Source Sans Pro"/>
              </a:rPr>
              <a:t>OVERALL, THE DATASET IS WELL-STRUCTURED AND SUITABLE FOR A LARGE-SCALE MACHINE LEARNING PROJECT. THE PRESENCE OF BOTH LIFESTYLE AND MEDICAL FEATURES, COMBINED WITH A LARGE SAMPLE SIZE, PROVIDES A STRONG FOUNDATION FOR BUILDING ROBUST PREDICTIVE MODELS. ADDRESSING MISSING VALUES, SCALING NUMERICAL FEATURES, ENCODING CATEGORICAL VARIABLES, AND MANAGING POTENTIAL CLASS IMBALANCE WILL BE CRITICAL STEPS IN THE NEXT STAGES OF THE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4979583"/>
            <a:ext cx="18802350" cy="2347371"/>
            <a:chOff x="0" y="0"/>
            <a:chExt cx="4952059" cy="618238"/>
          </a:xfrm>
        </p:grpSpPr>
        <p:sp>
          <p:nvSpPr>
            <p:cNvPr id="4" name="Freeform 4"/>
            <p:cNvSpPr/>
            <p:nvPr/>
          </p:nvSpPr>
          <p:spPr>
            <a:xfrm>
              <a:off x="0" y="0"/>
              <a:ext cx="4952059" cy="618238"/>
            </a:xfrm>
            <a:custGeom>
              <a:avLst/>
              <a:gdLst/>
              <a:ahLst/>
              <a:cxnLst/>
              <a:rect l="l" t="t" r="r" b="b"/>
              <a:pathLst>
                <a:path w="4952059" h="618238">
                  <a:moveTo>
                    <a:pt x="20999" y="0"/>
                  </a:moveTo>
                  <a:lnTo>
                    <a:pt x="4931060" y="0"/>
                  </a:lnTo>
                  <a:cubicBezTo>
                    <a:pt x="4936629" y="0"/>
                    <a:pt x="4941970" y="2212"/>
                    <a:pt x="4945909" y="6151"/>
                  </a:cubicBezTo>
                  <a:cubicBezTo>
                    <a:pt x="4949847" y="10089"/>
                    <a:pt x="4952059" y="15430"/>
                    <a:pt x="4952059" y="20999"/>
                  </a:cubicBezTo>
                  <a:lnTo>
                    <a:pt x="4952059" y="597238"/>
                  </a:lnTo>
                  <a:cubicBezTo>
                    <a:pt x="4952059" y="608836"/>
                    <a:pt x="4942658" y="618238"/>
                    <a:pt x="4931060" y="618238"/>
                  </a:cubicBezTo>
                  <a:lnTo>
                    <a:pt x="20999" y="618238"/>
                  </a:lnTo>
                  <a:cubicBezTo>
                    <a:pt x="15430" y="618238"/>
                    <a:pt x="10089" y="616025"/>
                    <a:pt x="6151" y="612087"/>
                  </a:cubicBezTo>
                  <a:cubicBezTo>
                    <a:pt x="2212" y="608149"/>
                    <a:pt x="0" y="602808"/>
                    <a:pt x="0" y="59723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66586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78260" y="2836221"/>
            <a:ext cx="7331480" cy="1111250"/>
          </a:xfrm>
          <a:prstGeom prst="rect">
            <a:avLst/>
          </a:prstGeom>
        </p:spPr>
        <p:txBody>
          <a:bodyPr lIns="0" tIns="0" rIns="0" bIns="0" rtlCol="0" anchor="t">
            <a:spAutoFit/>
          </a:bodyPr>
          <a:lstStyle/>
          <a:p>
            <a:pPr algn="ctr">
              <a:lnSpc>
                <a:spcPts val="9099"/>
              </a:lnSpc>
            </a:pPr>
            <a:r>
              <a:rPr lang="en-US" sz="6499">
                <a:solidFill>
                  <a:srgbClr val="004AAD"/>
                </a:solidFill>
                <a:latin typeface="League Spartan"/>
                <a:ea typeface="League Spartan"/>
                <a:cs typeface="League Spartan"/>
                <a:sym typeface="League Spartan"/>
              </a:rPr>
              <a:t>DATA ANALYSIS</a:t>
            </a:r>
          </a:p>
        </p:txBody>
      </p:sp>
      <p:sp>
        <p:nvSpPr>
          <p:cNvPr id="7" name="TextBox 7"/>
          <p:cNvSpPr txBox="1"/>
          <p:nvPr/>
        </p:nvSpPr>
        <p:spPr>
          <a:xfrm>
            <a:off x="709469" y="5480219"/>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NUMERICAL COLUMNS</a:t>
            </a:r>
          </a:p>
        </p:txBody>
      </p:sp>
      <p:sp>
        <p:nvSpPr>
          <p:cNvPr id="8" name="TextBox 8"/>
          <p:cNvSpPr txBox="1"/>
          <p:nvPr/>
        </p:nvSpPr>
        <p:spPr>
          <a:xfrm>
            <a:off x="4749999" y="5365819"/>
            <a:ext cx="4346416" cy="1384300"/>
          </a:xfrm>
          <a:prstGeom prst="rect">
            <a:avLst/>
          </a:prstGeom>
        </p:spPr>
        <p:txBody>
          <a:bodyPr lIns="0" tIns="0" rIns="0" bIns="0" rtlCol="0" anchor="t">
            <a:spAutoFit/>
          </a:bodyPr>
          <a:lstStyle/>
          <a:p>
            <a:pPr algn="ctr">
              <a:lnSpc>
                <a:spcPts val="5599"/>
              </a:lnSpc>
            </a:pPr>
            <a:r>
              <a:rPr lang="en-US" sz="3999">
                <a:solidFill>
                  <a:srgbClr val="FFFFFF"/>
                </a:solidFill>
                <a:latin typeface="League Spartan"/>
                <a:ea typeface="League Spartan"/>
                <a:cs typeface="League Spartan"/>
                <a:sym typeface="League Spartan"/>
              </a:rPr>
              <a:t>CATEGORICAL COLUMNS</a:t>
            </a:r>
          </a:p>
        </p:txBody>
      </p:sp>
      <p:sp>
        <p:nvSpPr>
          <p:cNvPr id="9" name="TextBox 9"/>
          <p:cNvSpPr txBox="1"/>
          <p:nvPr/>
        </p:nvSpPr>
        <p:spPr>
          <a:xfrm>
            <a:off x="9581262" y="5365819"/>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COLUMNS WITH TARGET</a:t>
            </a:r>
          </a:p>
        </p:txBody>
      </p:sp>
      <p:sp>
        <p:nvSpPr>
          <p:cNvPr id="10" name="TextBox 10"/>
          <p:cNvSpPr txBox="1"/>
          <p:nvPr/>
        </p:nvSpPr>
        <p:spPr>
          <a:xfrm>
            <a:off x="13822784" y="5365819"/>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INTEGRATED COLUMNS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1995007" y="8900101"/>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539260" y="1085450"/>
            <a:ext cx="4243380"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NUMERICAL COLUMNS</a:t>
            </a:r>
          </a:p>
        </p:txBody>
      </p:sp>
      <p:sp>
        <p:nvSpPr>
          <p:cNvPr id="7" name="TextBox 7"/>
          <p:cNvSpPr txBox="1"/>
          <p:nvPr/>
        </p:nvSpPr>
        <p:spPr>
          <a:xfrm>
            <a:off x="11843663" y="3255598"/>
            <a:ext cx="5634574" cy="5260801"/>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Overall, the numerical features exhibit near-normal distributions with very low skewness values. This indicates good data quality, minimal transformation requirements, and suitability for machine learning models. Standard scaling techniques should be sufficient, and no aggressive normalization or logarithmic transformations appear necessary at this stage.</a:t>
            </a:r>
          </a:p>
        </p:txBody>
      </p:sp>
      <p:sp>
        <p:nvSpPr>
          <p:cNvPr id="8" name="Freeform 8"/>
          <p:cNvSpPr/>
          <p:nvPr/>
        </p:nvSpPr>
        <p:spPr>
          <a:xfrm>
            <a:off x="809763" y="1292738"/>
            <a:ext cx="10471213" cy="7701524"/>
          </a:xfrm>
          <a:custGeom>
            <a:avLst/>
            <a:gdLst/>
            <a:ahLst/>
            <a:cxnLst/>
            <a:rect l="l" t="t" r="r" b="b"/>
            <a:pathLst>
              <a:path w="10471213" h="7701524">
                <a:moveTo>
                  <a:pt x="0" y="0"/>
                </a:moveTo>
                <a:lnTo>
                  <a:pt x="10471214" y="0"/>
                </a:lnTo>
                <a:lnTo>
                  <a:pt x="10471214" y="7701524"/>
                </a:lnTo>
                <a:lnTo>
                  <a:pt x="0" y="770152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2194277" y="8471595"/>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1990838" y="1513956"/>
            <a:ext cx="5436080"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CATEGORICAL COLUMNS</a:t>
            </a:r>
          </a:p>
        </p:txBody>
      </p:sp>
      <p:sp>
        <p:nvSpPr>
          <p:cNvPr id="7" name="TextBox 7"/>
          <p:cNvSpPr txBox="1"/>
          <p:nvPr/>
        </p:nvSpPr>
        <p:spPr>
          <a:xfrm>
            <a:off x="11891591" y="3696541"/>
            <a:ext cx="5634574" cy="4384530"/>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Overall, the categorical features demonstrate well-balanced distributions, indicating high data quality and suitability for machine learning applications. The primary concern lies in the imbalance of the target variable, which must be handled appropriately to ensure robust and unbiased predictive performance.</a:t>
            </a:r>
          </a:p>
        </p:txBody>
      </p:sp>
      <p:sp>
        <p:nvSpPr>
          <p:cNvPr id="8" name="Freeform 8"/>
          <p:cNvSpPr/>
          <p:nvPr/>
        </p:nvSpPr>
        <p:spPr>
          <a:xfrm>
            <a:off x="761836" y="1259105"/>
            <a:ext cx="10413483" cy="7768789"/>
          </a:xfrm>
          <a:custGeom>
            <a:avLst/>
            <a:gdLst/>
            <a:ahLst/>
            <a:cxnLst/>
            <a:rect l="l" t="t" r="r" b="b"/>
            <a:pathLst>
              <a:path w="10413483" h="7768789">
                <a:moveTo>
                  <a:pt x="0" y="0"/>
                </a:moveTo>
                <a:lnTo>
                  <a:pt x="10413483" y="0"/>
                </a:lnTo>
                <a:lnTo>
                  <a:pt x="10413483" y="7768790"/>
                </a:lnTo>
                <a:lnTo>
                  <a:pt x="0" y="7768790"/>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2038419" y="7077411"/>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1834979" y="2908141"/>
            <a:ext cx="5436080" cy="2798764"/>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SOME COLUMNS WITH TARGET</a:t>
            </a:r>
          </a:p>
        </p:txBody>
      </p:sp>
      <p:sp>
        <p:nvSpPr>
          <p:cNvPr id="7" name="TextBox 7"/>
          <p:cNvSpPr txBox="1"/>
          <p:nvPr/>
        </p:nvSpPr>
        <p:spPr>
          <a:xfrm>
            <a:off x="11887076" y="6077324"/>
            <a:ext cx="5634574" cy="542886"/>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Poppins"/>
                <a:ea typeface="Poppins"/>
                <a:cs typeface="Poppins"/>
                <a:sym typeface="Poppins"/>
              </a:rPr>
              <a:t>Exercise Habits in pie chart</a:t>
            </a:r>
          </a:p>
        </p:txBody>
      </p:sp>
      <p:sp>
        <p:nvSpPr>
          <p:cNvPr id="8" name="Freeform 8"/>
          <p:cNvSpPr/>
          <p:nvPr/>
        </p:nvSpPr>
        <p:spPr>
          <a:xfrm>
            <a:off x="766351" y="880073"/>
            <a:ext cx="10575942" cy="8526853"/>
          </a:xfrm>
          <a:custGeom>
            <a:avLst/>
            <a:gdLst/>
            <a:ahLst/>
            <a:cxnLst/>
            <a:rect l="l" t="t" r="r" b="b"/>
            <a:pathLst>
              <a:path w="10575942" h="8526853">
                <a:moveTo>
                  <a:pt x="0" y="0"/>
                </a:moveTo>
                <a:lnTo>
                  <a:pt x="10575942" y="0"/>
                </a:lnTo>
                <a:lnTo>
                  <a:pt x="10575942" y="8526854"/>
                </a:lnTo>
                <a:lnTo>
                  <a:pt x="0" y="852685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472409"/>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SUGAR CONSUMPTION LEVEL VS TARGET</a:t>
            </a:r>
          </a:p>
        </p:txBody>
      </p:sp>
      <p:sp>
        <p:nvSpPr>
          <p:cNvPr id="4" name="Freeform 4"/>
          <p:cNvSpPr/>
          <p:nvPr/>
        </p:nvSpPr>
        <p:spPr>
          <a:xfrm>
            <a:off x="1746685" y="3063232"/>
            <a:ext cx="14794629" cy="5880865"/>
          </a:xfrm>
          <a:custGeom>
            <a:avLst/>
            <a:gdLst/>
            <a:ahLst/>
            <a:cxnLst/>
            <a:rect l="l" t="t" r="r" b="b"/>
            <a:pathLst>
              <a:path w="14794629" h="5880865">
                <a:moveTo>
                  <a:pt x="0" y="0"/>
                </a:moveTo>
                <a:lnTo>
                  <a:pt x="14794630" y="0"/>
                </a:lnTo>
                <a:lnTo>
                  <a:pt x="14794630" y="5880865"/>
                </a:lnTo>
                <a:lnTo>
                  <a:pt x="0" y="5880865"/>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489864"/>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INTEGRATED COLUMNS</a:t>
            </a:r>
          </a:p>
        </p:txBody>
      </p:sp>
      <p:sp>
        <p:nvSpPr>
          <p:cNvPr id="4" name="TextBox 4"/>
          <p:cNvSpPr txBox="1"/>
          <p:nvPr/>
        </p:nvSpPr>
        <p:spPr>
          <a:xfrm>
            <a:off x="3939190" y="2336070"/>
            <a:ext cx="10409621" cy="547048"/>
          </a:xfrm>
          <a:prstGeom prst="rect">
            <a:avLst/>
          </a:prstGeom>
        </p:spPr>
        <p:txBody>
          <a:bodyPr lIns="0" tIns="0" rIns="0" bIns="0" rtlCol="0" anchor="t">
            <a:spAutoFit/>
          </a:bodyPr>
          <a:lstStyle/>
          <a:p>
            <a:pPr algn="ctr">
              <a:lnSpc>
                <a:spcPts val="4494"/>
              </a:lnSpc>
              <a:spcBef>
                <a:spcPct val="0"/>
              </a:spcBef>
            </a:pPr>
            <a:r>
              <a:rPr lang="en-US" sz="3210">
                <a:solidFill>
                  <a:srgbClr val="000000"/>
                </a:solidFill>
                <a:latin typeface="Archivo Black"/>
                <a:ea typeface="Archivo Black"/>
                <a:cs typeface="Archivo Black"/>
                <a:sym typeface="Archivo Black"/>
              </a:rPr>
              <a:t>Exercise habits with age and target column</a:t>
            </a:r>
          </a:p>
        </p:txBody>
      </p:sp>
      <p:sp>
        <p:nvSpPr>
          <p:cNvPr id="5" name="Freeform 5"/>
          <p:cNvSpPr/>
          <p:nvPr/>
        </p:nvSpPr>
        <p:spPr>
          <a:xfrm>
            <a:off x="1275474" y="3676176"/>
            <a:ext cx="15737053" cy="5016186"/>
          </a:xfrm>
          <a:custGeom>
            <a:avLst/>
            <a:gdLst/>
            <a:ahLst/>
            <a:cxnLst/>
            <a:rect l="l" t="t" r="r" b="b"/>
            <a:pathLst>
              <a:path w="15737053" h="5016186">
                <a:moveTo>
                  <a:pt x="0" y="0"/>
                </a:moveTo>
                <a:lnTo>
                  <a:pt x="15737052" y="0"/>
                </a:lnTo>
                <a:lnTo>
                  <a:pt x="15737052" y="5016185"/>
                </a:lnTo>
                <a:lnTo>
                  <a:pt x="0" y="5016185"/>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304658"/>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INTEGRATED COLUMNS</a:t>
            </a:r>
          </a:p>
        </p:txBody>
      </p:sp>
      <p:sp>
        <p:nvSpPr>
          <p:cNvPr id="4" name="Freeform 4"/>
          <p:cNvSpPr/>
          <p:nvPr/>
        </p:nvSpPr>
        <p:spPr>
          <a:xfrm>
            <a:off x="1452318" y="2685763"/>
            <a:ext cx="15383364" cy="6191804"/>
          </a:xfrm>
          <a:custGeom>
            <a:avLst/>
            <a:gdLst/>
            <a:ahLst/>
            <a:cxnLst/>
            <a:rect l="l" t="t" r="r" b="b"/>
            <a:pathLst>
              <a:path w="15383364" h="6191804">
                <a:moveTo>
                  <a:pt x="0" y="0"/>
                </a:moveTo>
                <a:lnTo>
                  <a:pt x="15383364" y="0"/>
                </a:lnTo>
                <a:lnTo>
                  <a:pt x="15383364" y="6191804"/>
                </a:lnTo>
                <a:lnTo>
                  <a:pt x="0" y="619180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863532"/>
            <a:ext cx="15243505"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ALCOHOL CONSUMPTION &amp; STRESS LEVEL &amp; TARGET</a:t>
            </a:r>
          </a:p>
        </p:txBody>
      </p:sp>
      <p:sp>
        <p:nvSpPr>
          <p:cNvPr id="4" name="Freeform 4"/>
          <p:cNvSpPr/>
          <p:nvPr/>
        </p:nvSpPr>
        <p:spPr>
          <a:xfrm>
            <a:off x="1275474" y="3102557"/>
            <a:ext cx="15737053" cy="6216136"/>
          </a:xfrm>
          <a:custGeom>
            <a:avLst/>
            <a:gdLst/>
            <a:ahLst/>
            <a:cxnLst/>
            <a:rect l="l" t="t" r="r" b="b"/>
            <a:pathLst>
              <a:path w="15737053" h="6216136">
                <a:moveTo>
                  <a:pt x="0" y="0"/>
                </a:moveTo>
                <a:lnTo>
                  <a:pt x="15737052" y="0"/>
                </a:lnTo>
                <a:lnTo>
                  <a:pt x="15737052" y="6216136"/>
                </a:lnTo>
                <a:lnTo>
                  <a:pt x="0" y="6216136"/>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120473"/>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26577"/>
            <a:ext cx="11644372" cy="1233887"/>
          </a:xfrm>
          <a:prstGeom prst="rect">
            <a:avLst/>
          </a:prstGeom>
        </p:spPr>
        <p:txBody>
          <a:bodyPr lIns="0" tIns="0" rIns="0" bIns="0" rtlCol="0" anchor="t">
            <a:spAutoFit/>
          </a:bodyPr>
          <a:lstStyle/>
          <a:p>
            <a:pPr algn="ctr">
              <a:lnSpc>
                <a:spcPts val="10132"/>
              </a:lnSpc>
            </a:pPr>
            <a:r>
              <a:rPr lang="en-US" sz="7237">
                <a:solidFill>
                  <a:srgbClr val="004AAD"/>
                </a:solidFill>
                <a:latin typeface="League Spartan"/>
                <a:ea typeface="League Spartan"/>
                <a:cs typeface="League Spartan"/>
                <a:sym typeface="League Spartan"/>
              </a:rPr>
              <a:t>DATA PREPROCESSING</a:t>
            </a:r>
          </a:p>
        </p:txBody>
      </p:sp>
      <p:sp>
        <p:nvSpPr>
          <p:cNvPr id="7" name="TextBox 7"/>
          <p:cNvSpPr txBox="1"/>
          <p:nvPr/>
        </p:nvSpPr>
        <p:spPr>
          <a:xfrm>
            <a:off x="1530453" y="5407811"/>
            <a:ext cx="4248282"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HANDLING NULLS</a:t>
            </a:r>
          </a:p>
        </p:txBody>
      </p:sp>
      <p:sp>
        <p:nvSpPr>
          <p:cNvPr id="8" name="TextBox 8"/>
          <p:cNvSpPr txBox="1"/>
          <p:nvPr/>
        </p:nvSpPr>
        <p:spPr>
          <a:xfrm>
            <a:off x="7674210" y="5379236"/>
            <a:ext cx="3433031"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DETECTING OUTLIERS </a:t>
            </a:r>
          </a:p>
        </p:txBody>
      </p:sp>
      <p:sp>
        <p:nvSpPr>
          <p:cNvPr id="9" name="TextBox 9"/>
          <p:cNvSpPr txBox="1"/>
          <p:nvPr/>
        </p:nvSpPr>
        <p:spPr>
          <a:xfrm>
            <a:off x="13001800" y="5379236"/>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FEATURE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83251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969918" y="2825675"/>
            <a:ext cx="13282296" cy="6224806"/>
            <a:chOff x="0" y="0"/>
            <a:chExt cx="3498218" cy="1639455"/>
          </a:xfrm>
        </p:grpSpPr>
        <p:sp>
          <p:nvSpPr>
            <p:cNvPr id="7" name="Freeform 7"/>
            <p:cNvSpPr/>
            <p:nvPr/>
          </p:nvSpPr>
          <p:spPr>
            <a:xfrm>
              <a:off x="0" y="0"/>
              <a:ext cx="3498218" cy="1639455"/>
            </a:xfrm>
            <a:custGeom>
              <a:avLst/>
              <a:gdLst/>
              <a:ahLst/>
              <a:cxnLst/>
              <a:rect l="l" t="t" r="r" b="b"/>
              <a:pathLst>
                <a:path w="3498218" h="1639455">
                  <a:moveTo>
                    <a:pt x="29727" y="0"/>
                  </a:moveTo>
                  <a:lnTo>
                    <a:pt x="3468491" y="0"/>
                  </a:lnTo>
                  <a:cubicBezTo>
                    <a:pt x="3476375" y="0"/>
                    <a:pt x="3483936" y="3132"/>
                    <a:pt x="3489511" y="8707"/>
                  </a:cubicBezTo>
                  <a:cubicBezTo>
                    <a:pt x="3495086" y="14282"/>
                    <a:pt x="3498218" y="21843"/>
                    <a:pt x="3498218" y="29727"/>
                  </a:cubicBezTo>
                  <a:lnTo>
                    <a:pt x="3498218" y="1609728"/>
                  </a:lnTo>
                  <a:cubicBezTo>
                    <a:pt x="3498218" y="1617612"/>
                    <a:pt x="3495086" y="1625173"/>
                    <a:pt x="3489511" y="1630748"/>
                  </a:cubicBezTo>
                  <a:cubicBezTo>
                    <a:pt x="3483936" y="1636323"/>
                    <a:pt x="3476375" y="1639455"/>
                    <a:pt x="3468491" y="1639455"/>
                  </a:cubicBezTo>
                  <a:lnTo>
                    <a:pt x="29727" y="1639455"/>
                  </a:lnTo>
                  <a:cubicBezTo>
                    <a:pt x="21843" y="1639455"/>
                    <a:pt x="14282" y="1636323"/>
                    <a:pt x="8707" y="1630748"/>
                  </a:cubicBezTo>
                  <a:cubicBezTo>
                    <a:pt x="3132" y="1625173"/>
                    <a:pt x="0" y="1617612"/>
                    <a:pt x="0" y="1609728"/>
                  </a:cubicBezTo>
                  <a:lnTo>
                    <a:pt x="0" y="29727"/>
                  </a:lnTo>
                  <a:cubicBezTo>
                    <a:pt x="0" y="21843"/>
                    <a:pt x="3132" y="14282"/>
                    <a:pt x="8707" y="8707"/>
                  </a:cubicBezTo>
                  <a:cubicBezTo>
                    <a:pt x="14282" y="3132"/>
                    <a:pt x="21843" y="0"/>
                    <a:pt x="29727" y="0"/>
                  </a:cubicBezTo>
                  <a:close/>
                </a:path>
              </a:pathLst>
            </a:custGeom>
            <a:solidFill>
              <a:srgbClr val="004AAD"/>
            </a:solidFill>
          </p:spPr>
          <p:txBody>
            <a:bodyPr/>
            <a:lstStyle/>
            <a:p>
              <a:endParaRPr lang="ar-EG"/>
            </a:p>
          </p:txBody>
        </p:sp>
        <p:sp>
          <p:nvSpPr>
            <p:cNvPr id="8" name="TextBox 8"/>
            <p:cNvSpPr txBox="1"/>
            <p:nvPr/>
          </p:nvSpPr>
          <p:spPr>
            <a:xfrm>
              <a:off x="0" y="-47625"/>
              <a:ext cx="3498218"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776365" y="1130765"/>
            <a:ext cx="673527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HANDLING NULLS</a:t>
            </a:r>
          </a:p>
        </p:txBody>
      </p:sp>
      <p:grpSp>
        <p:nvGrpSpPr>
          <p:cNvPr id="10" name="Group 10"/>
          <p:cNvGrpSpPr/>
          <p:nvPr/>
        </p:nvGrpSpPr>
        <p:grpSpPr>
          <a:xfrm>
            <a:off x="2035786" y="3947378"/>
            <a:ext cx="1868266" cy="186826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035786" y="6579224"/>
            <a:ext cx="1868266" cy="18682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150501" y="4242097"/>
            <a:ext cx="1638836" cy="1335977"/>
          </a:xfrm>
          <a:prstGeom prst="rect">
            <a:avLst/>
          </a:prstGeom>
        </p:spPr>
        <p:txBody>
          <a:bodyPr lIns="0" tIns="0" rIns="0" bIns="0" rtlCol="0" anchor="t">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id="17" name="TextBox 17"/>
          <p:cNvSpPr txBox="1"/>
          <p:nvPr/>
        </p:nvSpPr>
        <p:spPr>
          <a:xfrm>
            <a:off x="2150501" y="6864418"/>
            <a:ext cx="1638836" cy="1335977"/>
          </a:xfrm>
          <a:prstGeom prst="rect">
            <a:avLst/>
          </a:prstGeom>
        </p:spPr>
        <p:txBody>
          <a:bodyPr lIns="0" tIns="0" rIns="0" bIns="0" rtlCol="0" anchor="t">
            <a:spAutoFit/>
          </a:bodyPr>
          <a:lstStyle/>
          <a:p>
            <a:pPr algn="ctr">
              <a:lnSpc>
                <a:spcPts val="11002"/>
              </a:lnSpc>
            </a:pPr>
            <a:r>
              <a:rPr lang="en-US" sz="7859" b="1">
                <a:solidFill>
                  <a:srgbClr val="000000"/>
                </a:solidFill>
                <a:latin typeface="League Spartan"/>
                <a:ea typeface="League Spartan"/>
                <a:cs typeface="League Spartan"/>
                <a:sym typeface="League Spartan"/>
              </a:rPr>
              <a:t>2</a:t>
            </a:r>
          </a:p>
        </p:txBody>
      </p:sp>
      <p:sp>
        <p:nvSpPr>
          <p:cNvPr id="18" name="TextBox 18"/>
          <p:cNvSpPr txBox="1"/>
          <p:nvPr/>
        </p:nvSpPr>
        <p:spPr>
          <a:xfrm>
            <a:off x="4183088" y="3920194"/>
            <a:ext cx="11536671" cy="2017885"/>
          </a:xfrm>
          <a:prstGeom prst="rect">
            <a:avLst/>
          </a:prstGeom>
        </p:spPr>
        <p:txBody>
          <a:bodyPr lIns="0" tIns="0" rIns="0" bIns="0" rtlCol="0" anchor="t">
            <a:spAutoFit/>
          </a:bodyPr>
          <a:lstStyle/>
          <a:p>
            <a:pPr algn="l">
              <a:lnSpc>
                <a:spcPts val="5320"/>
              </a:lnSpc>
            </a:pPr>
            <a:r>
              <a:rPr lang="en-US" sz="3800">
                <a:solidFill>
                  <a:srgbClr val="FFFFFF"/>
                </a:solidFill>
                <a:latin typeface="Poppins"/>
                <a:ea typeface="Poppins"/>
                <a:cs typeface="Poppins"/>
                <a:sym typeface="Poppins"/>
              </a:rPr>
              <a:t>for numerical columns : used median to fill nulls</a:t>
            </a:r>
          </a:p>
          <a:p>
            <a:pPr algn="l">
              <a:lnSpc>
                <a:spcPts val="5320"/>
              </a:lnSpc>
              <a:spcBef>
                <a:spcPct val="0"/>
              </a:spcBef>
            </a:pPr>
            <a:r>
              <a:rPr lang="en-US" sz="3800">
                <a:solidFill>
                  <a:srgbClr val="FFFFFF"/>
                </a:solidFill>
                <a:latin typeface="Poppins"/>
                <a:ea typeface="Poppins"/>
                <a:cs typeface="Poppins"/>
                <a:sym typeface="Poppins"/>
              </a:rPr>
              <a:t>most of the numerical columns contained nulls with less than 1% of the data</a:t>
            </a:r>
          </a:p>
        </p:txBody>
      </p:sp>
      <p:sp>
        <p:nvSpPr>
          <p:cNvPr id="19" name="TextBox 19"/>
          <p:cNvSpPr txBox="1"/>
          <p:nvPr/>
        </p:nvSpPr>
        <p:spPr>
          <a:xfrm>
            <a:off x="4141320" y="7110750"/>
            <a:ext cx="8199910" cy="690914"/>
          </a:xfrm>
          <a:prstGeom prst="rect">
            <a:avLst/>
          </a:prstGeom>
        </p:spPr>
        <p:txBody>
          <a:bodyPr lIns="0" tIns="0" rIns="0" bIns="0" rtlCol="0" anchor="t">
            <a:spAutoFit/>
          </a:bodyPr>
          <a:lstStyle/>
          <a:p>
            <a:pPr marL="0" lvl="0" indent="0" algn="l">
              <a:lnSpc>
                <a:spcPts val="5320"/>
              </a:lnSpc>
              <a:spcBef>
                <a:spcPct val="0"/>
              </a:spcBef>
            </a:pPr>
            <a:r>
              <a:rPr lang="en-US" sz="3800" u="none" strike="noStrike">
                <a:solidFill>
                  <a:srgbClr val="FFFFFF"/>
                </a:solidFill>
                <a:latin typeface="Poppins"/>
                <a:ea typeface="Poppins"/>
                <a:cs typeface="Poppins"/>
                <a:sym typeface="Poppins"/>
              </a:rPr>
              <a:t>and for categorical used mode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83251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85997" y="2551392"/>
            <a:ext cx="11175969" cy="6166015"/>
            <a:chOff x="0" y="0"/>
            <a:chExt cx="2971530" cy="1639455"/>
          </a:xfrm>
        </p:grpSpPr>
        <p:sp>
          <p:nvSpPr>
            <p:cNvPr id="7" name="Freeform 7"/>
            <p:cNvSpPr/>
            <p:nvPr/>
          </p:nvSpPr>
          <p:spPr>
            <a:xfrm>
              <a:off x="0" y="0"/>
              <a:ext cx="2971530" cy="1639455"/>
            </a:xfrm>
            <a:custGeom>
              <a:avLst/>
              <a:gdLst/>
              <a:ahLst/>
              <a:cxnLst/>
              <a:rect l="l" t="t" r="r" b="b"/>
              <a:pathLst>
                <a:path w="2971530" h="1639455">
                  <a:moveTo>
                    <a:pt x="35329" y="0"/>
                  </a:moveTo>
                  <a:lnTo>
                    <a:pt x="2936201" y="0"/>
                  </a:lnTo>
                  <a:cubicBezTo>
                    <a:pt x="2955712" y="0"/>
                    <a:pt x="2971530" y="15817"/>
                    <a:pt x="2971530" y="35329"/>
                  </a:cubicBezTo>
                  <a:lnTo>
                    <a:pt x="2971530" y="1604126"/>
                  </a:lnTo>
                  <a:cubicBezTo>
                    <a:pt x="2971530" y="1623638"/>
                    <a:pt x="2955712" y="1639455"/>
                    <a:pt x="2936201" y="1639455"/>
                  </a:cubicBezTo>
                  <a:lnTo>
                    <a:pt x="35329" y="1639455"/>
                  </a:lnTo>
                  <a:cubicBezTo>
                    <a:pt x="15817" y="1639455"/>
                    <a:pt x="0" y="1623638"/>
                    <a:pt x="0" y="1604126"/>
                  </a:cubicBezTo>
                  <a:lnTo>
                    <a:pt x="0" y="35329"/>
                  </a:lnTo>
                  <a:cubicBezTo>
                    <a:pt x="0" y="15817"/>
                    <a:pt x="15817" y="0"/>
                    <a:pt x="35329" y="0"/>
                  </a:cubicBezTo>
                  <a:close/>
                </a:path>
              </a:pathLst>
            </a:custGeom>
            <a:solidFill>
              <a:srgbClr val="004AAD"/>
            </a:solidFill>
          </p:spPr>
          <p:txBody>
            <a:bodyPr/>
            <a:lstStyle/>
            <a:p>
              <a:endParaRPr lang="ar-EG"/>
            </a:p>
          </p:txBody>
        </p:sp>
        <p:sp>
          <p:nvSpPr>
            <p:cNvPr id="8" name="TextBox 8"/>
            <p:cNvSpPr txBox="1"/>
            <p:nvPr/>
          </p:nvSpPr>
          <p:spPr>
            <a:xfrm>
              <a:off x="0" y="-47625"/>
              <a:ext cx="2971530"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253543" y="923925"/>
            <a:ext cx="978091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OUTLIERS DETECTION</a:t>
            </a:r>
          </a:p>
        </p:txBody>
      </p:sp>
      <p:grpSp>
        <p:nvGrpSpPr>
          <p:cNvPr id="10" name="Group 10"/>
          <p:cNvGrpSpPr/>
          <p:nvPr/>
        </p:nvGrpSpPr>
        <p:grpSpPr>
          <a:xfrm>
            <a:off x="0" y="3426020"/>
            <a:ext cx="1571993" cy="1850621"/>
            <a:chOff x="0" y="0"/>
            <a:chExt cx="690426" cy="812800"/>
          </a:xfrm>
        </p:grpSpPr>
        <p:sp>
          <p:nvSpPr>
            <p:cNvPr id="11" name="Freeform 11"/>
            <p:cNvSpPr/>
            <p:nvPr/>
          </p:nvSpPr>
          <p:spPr>
            <a:xfrm>
              <a:off x="0" y="0"/>
              <a:ext cx="690426" cy="812800"/>
            </a:xfrm>
            <a:custGeom>
              <a:avLst/>
              <a:gdLst/>
              <a:ahLst/>
              <a:cxnLst/>
              <a:rect l="l" t="t" r="r" b="b"/>
              <a:pathLst>
                <a:path w="690426" h="812800">
                  <a:moveTo>
                    <a:pt x="345213" y="0"/>
                  </a:moveTo>
                  <a:cubicBezTo>
                    <a:pt x="154557" y="0"/>
                    <a:pt x="0" y="181951"/>
                    <a:pt x="0" y="406400"/>
                  </a:cubicBezTo>
                  <a:cubicBezTo>
                    <a:pt x="0" y="630849"/>
                    <a:pt x="154557" y="812800"/>
                    <a:pt x="345213" y="812800"/>
                  </a:cubicBezTo>
                  <a:cubicBezTo>
                    <a:pt x="535869" y="812800"/>
                    <a:pt x="690426" y="630849"/>
                    <a:pt x="690426" y="406400"/>
                  </a:cubicBezTo>
                  <a:cubicBezTo>
                    <a:pt x="690426" y="181951"/>
                    <a:pt x="535869" y="0"/>
                    <a:pt x="345213" y="0"/>
                  </a:cubicBezTo>
                  <a:close/>
                </a:path>
              </a:pathLst>
            </a:custGeom>
            <a:solidFill>
              <a:srgbClr val="E5E5E5"/>
            </a:solidFill>
          </p:spPr>
          <p:txBody>
            <a:bodyPr/>
            <a:lstStyle/>
            <a:p>
              <a:endParaRPr lang="ar-EG"/>
            </a:p>
          </p:txBody>
        </p:sp>
        <p:sp>
          <p:nvSpPr>
            <p:cNvPr id="12" name="TextBox 12"/>
            <p:cNvSpPr txBox="1"/>
            <p:nvPr/>
          </p:nvSpPr>
          <p:spPr>
            <a:xfrm>
              <a:off x="64727" y="28575"/>
              <a:ext cx="560971"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6033009"/>
            <a:ext cx="1571993" cy="1850621"/>
            <a:chOff x="0" y="0"/>
            <a:chExt cx="690426" cy="812800"/>
          </a:xfrm>
        </p:grpSpPr>
        <p:sp>
          <p:nvSpPr>
            <p:cNvPr id="14" name="Freeform 14"/>
            <p:cNvSpPr/>
            <p:nvPr/>
          </p:nvSpPr>
          <p:spPr>
            <a:xfrm>
              <a:off x="0" y="0"/>
              <a:ext cx="690426" cy="812800"/>
            </a:xfrm>
            <a:custGeom>
              <a:avLst/>
              <a:gdLst/>
              <a:ahLst/>
              <a:cxnLst/>
              <a:rect l="l" t="t" r="r" b="b"/>
              <a:pathLst>
                <a:path w="690426" h="812800">
                  <a:moveTo>
                    <a:pt x="345213" y="0"/>
                  </a:moveTo>
                  <a:cubicBezTo>
                    <a:pt x="154557" y="0"/>
                    <a:pt x="0" y="181951"/>
                    <a:pt x="0" y="406400"/>
                  </a:cubicBezTo>
                  <a:cubicBezTo>
                    <a:pt x="0" y="630849"/>
                    <a:pt x="154557" y="812800"/>
                    <a:pt x="345213" y="812800"/>
                  </a:cubicBezTo>
                  <a:cubicBezTo>
                    <a:pt x="535869" y="812800"/>
                    <a:pt x="690426" y="630849"/>
                    <a:pt x="690426" y="406400"/>
                  </a:cubicBezTo>
                  <a:cubicBezTo>
                    <a:pt x="690426" y="181951"/>
                    <a:pt x="535869" y="0"/>
                    <a:pt x="345213" y="0"/>
                  </a:cubicBezTo>
                  <a:close/>
                </a:path>
              </a:pathLst>
            </a:custGeom>
            <a:solidFill>
              <a:srgbClr val="E5E5E5"/>
            </a:solidFill>
          </p:spPr>
          <p:txBody>
            <a:bodyPr/>
            <a:lstStyle/>
            <a:p>
              <a:endParaRPr lang="ar-EG"/>
            </a:p>
          </p:txBody>
        </p:sp>
        <p:sp>
          <p:nvSpPr>
            <p:cNvPr id="15" name="TextBox 15"/>
            <p:cNvSpPr txBox="1"/>
            <p:nvPr/>
          </p:nvSpPr>
          <p:spPr>
            <a:xfrm>
              <a:off x="64727" y="28575"/>
              <a:ext cx="560971"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96523" y="3735566"/>
            <a:ext cx="1378947" cy="1305821"/>
          </a:xfrm>
          <a:prstGeom prst="rect">
            <a:avLst/>
          </a:prstGeom>
        </p:spPr>
        <p:txBody>
          <a:bodyPr lIns="0" tIns="0" rIns="0" bIns="0" rtlCol="0" anchor="t">
            <a:spAutoFit/>
          </a:bodyPr>
          <a:lstStyle/>
          <a:p>
            <a:pPr algn="ctr">
              <a:lnSpc>
                <a:spcPts val="10899"/>
              </a:lnSpc>
            </a:pPr>
            <a:r>
              <a:rPr lang="en-US" sz="7785">
                <a:solidFill>
                  <a:srgbClr val="000000"/>
                </a:solidFill>
                <a:latin typeface="League Spartan"/>
                <a:ea typeface="League Spartan"/>
                <a:cs typeface="League Spartan"/>
                <a:sym typeface="League Spartan"/>
              </a:rPr>
              <a:t>1</a:t>
            </a:r>
          </a:p>
        </p:txBody>
      </p:sp>
      <p:sp>
        <p:nvSpPr>
          <p:cNvPr id="17" name="TextBox 17"/>
          <p:cNvSpPr txBox="1"/>
          <p:nvPr/>
        </p:nvSpPr>
        <p:spPr>
          <a:xfrm>
            <a:off x="96523" y="6333121"/>
            <a:ext cx="1378947" cy="1305821"/>
          </a:xfrm>
          <a:prstGeom prst="rect">
            <a:avLst/>
          </a:prstGeom>
        </p:spPr>
        <p:txBody>
          <a:bodyPr lIns="0" tIns="0" rIns="0" bIns="0" rtlCol="0" anchor="t">
            <a:spAutoFit/>
          </a:bodyPr>
          <a:lstStyle/>
          <a:p>
            <a:pPr algn="ctr">
              <a:lnSpc>
                <a:spcPts val="10899"/>
              </a:lnSpc>
            </a:pPr>
            <a:r>
              <a:rPr lang="en-US" sz="7785" b="1">
                <a:solidFill>
                  <a:srgbClr val="000000"/>
                </a:solidFill>
                <a:latin typeface="League Spartan"/>
                <a:ea typeface="League Spartan"/>
                <a:cs typeface="League Spartan"/>
                <a:sym typeface="League Spartan"/>
              </a:rPr>
              <a:t>2</a:t>
            </a:r>
          </a:p>
        </p:txBody>
      </p:sp>
      <p:sp>
        <p:nvSpPr>
          <p:cNvPr id="18" name="TextBox 18"/>
          <p:cNvSpPr txBox="1"/>
          <p:nvPr/>
        </p:nvSpPr>
        <p:spPr>
          <a:xfrm>
            <a:off x="1771636" y="2992060"/>
            <a:ext cx="9707168" cy="2642339"/>
          </a:xfrm>
          <a:prstGeom prst="rect">
            <a:avLst/>
          </a:prstGeom>
        </p:spPr>
        <p:txBody>
          <a:bodyPr lIns="0" tIns="0" rIns="0" bIns="0" rtlCol="0" anchor="t">
            <a:spAutoFit/>
          </a:bodyPr>
          <a:lstStyle/>
          <a:p>
            <a:pPr algn="l">
              <a:lnSpc>
                <a:spcPts val="4160"/>
              </a:lnSpc>
              <a:spcBef>
                <a:spcPct val="0"/>
              </a:spcBef>
            </a:pPr>
            <a:r>
              <a:rPr lang="en-US" sz="2971">
                <a:solidFill>
                  <a:srgbClr val="FFFFFF"/>
                </a:solidFill>
                <a:latin typeface="Poppins"/>
                <a:ea typeface="Poppins"/>
                <a:cs typeface="Poppins"/>
                <a:sym typeface="Poppins"/>
              </a:rPr>
              <a:t>The analysis showed that the majority of numerical variables follow well-balanced distributions without extreme or abnormal values. No significant outliers were observed that could negatively affect model training or bias the results.</a:t>
            </a:r>
          </a:p>
        </p:txBody>
      </p:sp>
      <p:sp>
        <p:nvSpPr>
          <p:cNvPr id="19" name="TextBox 19"/>
          <p:cNvSpPr txBox="1"/>
          <p:nvPr/>
        </p:nvSpPr>
        <p:spPr>
          <a:xfrm>
            <a:off x="1771636" y="5863212"/>
            <a:ext cx="9707168" cy="2114015"/>
          </a:xfrm>
          <a:prstGeom prst="rect">
            <a:avLst/>
          </a:prstGeom>
        </p:spPr>
        <p:txBody>
          <a:bodyPr lIns="0" tIns="0" rIns="0" bIns="0" rtlCol="0" anchor="t">
            <a:spAutoFit/>
          </a:bodyPr>
          <a:lstStyle/>
          <a:p>
            <a:pPr marL="0" lvl="0" indent="0" algn="l">
              <a:lnSpc>
                <a:spcPts val="4160"/>
              </a:lnSpc>
              <a:spcBef>
                <a:spcPct val="0"/>
              </a:spcBef>
            </a:pPr>
            <a:r>
              <a:rPr lang="en-US" sz="2971">
                <a:solidFill>
                  <a:srgbClr val="FFFFFF"/>
                </a:solidFill>
                <a:latin typeface="Poppins"/>
                <a:ea typeface="Poppins"/>
                <a:cs typeface="Poppins"/>
                <a:sym typeface="Poppins"/>
              </a:rPr>
              <a:t>B</a:t>
            </a:r>
            <a:r>
              <a:rPr lang="en-US" sz="2971" u="none" strike="noStrike">
                <a:solidFill>
                  <a:srgbClr val="FFFFFF"/>
                </a:solidFill>
                <a:latin typeface="Poppins"/>
                <a:ea typeface="Poppins"/>
                <a:cs typeface="Poppins"/>
                <a:sym typeface="Poppins"/>
              </a:rPr>
              <a:t>ased on this observation, no outlier removal or transformation was applied, and all numerical features were retained in their original form to preserve the natural variability of the data.</a:t>
            </a:r>
          </a:p>
        </p:txBody>
      </p:sp>
      <p:sp>
        <p:nvSpPr>
          <p:cNvPr id="20" name="Freeform 20"/>
          <p:cNvSpPr/>
          <p:nvPr/>
        </p:nvSpPr>
        <p:spPr>
          <a:xfrm>
            <a:off x="12161991" y="3402714"/>
            <a:ext cx="6106064" cy="4463371"/>
          </a:xfrm>
          <a:custGeom>
            <a:avLst/>
            <a:gdLst/>
            <a:ahLst/>
            <a:cxnLst/>
            <a:rect l="l" t="t" r="r" b="b"/>
            <a:pathLst>
              <a:path w="6106064" h="4463371">
                <a:moveTo>
                  <a:pt x="0" y="0"/>
                </a:moveTo>
                <a:lnTo>
                  <a:pt x="6106064" y="0"/>
                </a:lnTo>
                <a:lnTo>
                  <a:pt x="6106064" y="4463371"/>
                </a:lnTo>
                <a:lnTo>
                  <a:pt x="0" y="4463371"/>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718594" y="1614586"/>
            <a:ext cx="11407277" cy="8294559"/>
            <a:chOff x="0" y="0"/>
            <a:chExt cx="3228966" cy="2347874"/>
          </a:xfrm>
        </p:grpSpPr>
        <p:sp>
          <p:nvSpPr>
            <p:cNvPr id="4" name="Freeform 4"/>
            <p:cNvSpPr/>
            <p:nvPr/>
          </p:nvSpPr>
          <p:spPr>
            <a:xfrm>
              <a:off x="0" y="0"/>
              <a:ext cx="3228966" cy="2347875"/>
            </a:xfrm>
            <a:custGeom>
              <a:avLst/>
              <a:gdLst/>
              <a:ahLst/>
              <a:cxnLst/>
              <a:rect l="l" t="t" r="r" b="b"/>
              <a:pathLst>
                <a:path w="3228966" h="2347875">
                  <a:moveTo>
                    <a:pt x="34613" y="0"/>
                  </a:moveTo>
                  <a:lnTo>
                    <a:pt x="3194354" y="0"/>
                  </a:lnTo>
                  <a:cubicBezTo>
                    <a:pt x="3213470" y="0"/>
                    <a:pt x="3228966" y="15497"/>
                    <a:pt x="3228966" y="34613"/>
                  </a:cubicBezTo>
                  <a:lnTo>
                    <a:pt x="3228966" y="2313262"/>
                  </a:lnTo>
                  <a:cubicBezTo>
                    <a:pt x="3228966" y="2322442"/>
                    <a:pt x="3225320" y="2331245"/>
                    <a:pt x="3218829" y="2337737"/>
                  </a:cubicBezTo>
                  <a:cubicBezTo>
                    <a:pt x="3212337" y="2344228"/>
                    <a:pt x="3203534" y="2347875"/>
                    <a:pt x="3194354" y="2347875"/>
                  </a:cubicBezTo>
                  <a:lnTo>
                    <a:pt x="34613" y="2347875"/>
                  </a:lnTo>
                  <a:cubicBezTo>
                    <a:pt x="15497" y="2347875"/>
                    <a:pt x="0" y="2332378"/>
                    <a:pt x="0" y="2313262"/>
                  </a:cubicBezTo>
                  <a:lnTo>
                    <a:pt x="0" y="34613"/>
                  </a:lnTo>
                  <a:cubicBezTo>
                    <a:pt x="0" y="15497"/>
                    <a:pt x="15497" y="0"/>
                    <a:pt x="34613" y="0"/>
                  </a:cubicBezTo>
                  <a:close/>
                </a:path>
              </a:pathLst>
            </a:custGeom>
            <a:solidFill>
              <a:srgbClr val="004AAD"/>
            </a:solidFill>
          </p:spPr>
          <p:txBody>
            <a:bodyPr/>
            <a:lstStyle/>
            <a:p>
              <a:endParaRPr lang="ar-EG"/>
            </a:p>
          </p:txBody>
        </p:sp>
        <p:sp>
          <p:nvSpPr>
            <p:cNvPr id="5" name="TextBox 5"/>
            <p:cNvSpPr txBox="1"/>
            <p:nvPr/>
          </p:nvSpPr>
          <p:spPr>
            <a:xfrm>
              <a:off x="0" y="-47625"/>
              <a:ext cx="3228966" cy="239549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722103" y="273080"/>
            <a:ext cx="8843793"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FEATURE ENGINEERING</a:t>
            </a:r>
          </a:p>
        </p:txBody>
      </p:sp>
      <p:grpSp>
        <p:nvGrpSpPr>
          <p:cNvPr id="7" name="Group 7"/>
          <p:cNvGrpSpPr/>
          <p:nvPr/>
        </p:nvGrpSpPr>
        <p:grpSpPr>
          <a:xfrm>
            <a:off x="3162129" y="1905231"/>
            <a:ext cx="1112929" cy="111292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230465" y="2085856"/>
            <a:ext cx="976257" cy="790784"/>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1</a:t>
            </a:r>
          </a:p>
        </p:txBody>
      </p:sp>
      <p:sp>
        <p:nvSpPr>
          <p:cNvPr id="11" name="TextBox 11"/>
          <p:cNvSpPr txBox="1"/>
          <p:nvPr/>
        </p:nvSpPr>
        <p:spPr>
          <a:xfrm>
            <a:off x="4625117" y="1823788"/>
            <a:ext cx="4813309"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Age Group</a:t>
            </a:r>
          </a:p>
        </p:txBody>
      </p:sp>
      <p:grpSp>
        <p:nvGrpSpPr>
          <p:cNvPr id="12" name="Group 12"/>
          <p:cNvGrpSpPr/>
          <p:nvPr/>
        </p:nvGrpSpPr>
        <p:grpSpPr>
          <a:xfrm>
            <a:off x="3162129" y="3214737"/>
            <a:ext cx="1112929" cy="111292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3230465" y="3395362"/>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2</a:t>
            </a:r>
          </a:p>
        </p:txBody>
      </p:sp>
      <p:grpSp>
        <p:nvGrpSpPr>
          <p:cNvPr id="16" name="Group 16"/>
          <p:cNvGrpSpPr/>
          <p:nvPr/>
        </p:nvGrpSpPr>
        <p:grpSpPr>
          <a:xfrm>
            <a:off x="3162129" y="4522642"/>
            <a:ext cx="1112929" cy="11129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230465" y="470326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3</a:t>
            </a:r>
          </a:p>
        </p:txBody>
      </p:sp>
      <p:grpSp>
        <p:nvGrpSpPr>
          <p:cNvPr id="20" name="Group 20"/>
          <p:cNvGrpSpPr/>
          <p:nvPr/>
        </p:nvGrpSpPr>
        <p:grpSpPr>
          <a:xfrm>
            <a:off x="3162129" y="5830546"/>
            <a:ext cx="1112929" cy="111292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230465" y="601117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4</a:t>
            </a:r>
          </a:p>
        </p:txBody>
      </p:sp>
      <p:grpSp>
        <p:nvGrpSpPr>
          <p:cNvPr id="24" name="Group 24"/>
          <p:cNvGrpSpPr/>
          <p:nvPr/>
        </p:nvGrpSpPr>
        <p:grpSpPr>
          <a:xfrm>
            <a:off x="3162129" y="7138451"/>
            <a:ext cx="1112929" cy="111292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3230465" y="731907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5</a:t>
            </a:r>
          </a:p>
        </p:txBody>
      </p:sp>
      <p:grpSp>
        <p:nvGrpSpPr>
          <p:cNvPr id="28" name="Group 28"/>
          <p:cNvGrpSpPr/>
          <p:nvPr/>
        </p:nvGrpSpPr>
        <p:grpSpPr>
          <a:xfrm>
            <a:off x="3162129" y="8446356"/>
            <a:ext cx="1112929" cy="111292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230465" y="862698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6</a:t>
            </a:r>
          </a:p>
        </p:txBody>
      </p:sp>
      <p:sp>
        <p:nvSpPr>
          <p:cNvPr id="32" name="TextBox 32"/>
          <p:cNvSpPr txBox="1"/>
          <p:nvPr/>
        </p:nvSpPr>
        <p:spPr>
          <a:xfrm>
            <a:off x="4625117" y="3133294"/>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Blood pressure category</a:t>
            </a:r>
          </a:p>
        </p:txBody>
      </p:sp>
      <p:sp>
        <p:nvSpPr>
          <p:cNvPr id="33" name="TextBox 33"/>
          <p:cNvSpPr txBox="1"/>
          <p:nvPr/>
        </p:nvSpPr>
        <p:spPr>
          <a:xfrm>
            <a:off x="4625117" y="4446100"/>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Cholesterol Level Category</a:t>
            </a:r>
          </a:p>
        </p:txBody>
      </p:sp>
      <p:sp>
        <p:nvSpPr>
          <p:cNvPr id="34" name="TextBox 34"/>
          <p:cNvSpPr txBox="1"/>
          <p:nvPr/>
        </p:nvSpPr>
        <p:spPr>
          <a:xfrm>
            <a:off x="4625117" y="5758906"/>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BMI Category</a:t>
            </a:r>
          </a:p>
        </p:txBody>
      </p:sp>
      <p:sp>
        <p:nvSpPr>
          <p:cNvPr id="35" name="TextBox 35"/>
          <p:cNvSpPr txBox="1"/>
          <p:nvPr/>
        </p:nvSpPr>
        <p:spPr>
          <a:xfrm>
            <a:off x="4625117" y="7071712"/>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Life style</a:t>
            </a:r>
          </a:p>
        </p:txBody>
      </p:sp>
      <p:sp>
        <p:nvSpPr>
          <p:cNvPr id="36" name="TextBox 36"/>
          <p:cNvSpPr txBox="1"/>
          <p:nvPr/>
        </p:nvSpPr>
        <p:spPr>
          <a:xfrm>
            <a:off x="4625117" y="8384518"/>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sleep quality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120473"/>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26577"/>
            <a:ext cx="11644372" cy="1233887"/>
          </a:xfrm>
          <a:prstGeom prst="rect">
            <a:avLst/>
          </a:prstGeom>
        </p:spPr>
        <p:txBody>
          <a:bodyPr lIns="0" tIns="0" rIns="0" bIns="0" rtlCol="0" anchor="t">
            <a:spAutoFit/>
          </a:bodyPr>
          <a:lstStyle/>
          <a:p>
            <a:pPr algn="ctr">
              <a:lnSpc>
                <a:spcPts val="10132"/>
              </a:lnSpc>
            </a:pPr>
            <a:r>
              <a:rPr lang="en-US" sz="7237" b="1">
                <a:solidFill>
                  <a:srgbClr val="004AAD"/>
                </a:solidFill>
                <a:latin typeface="League Spartan"/>
                <a:ea typeface="League Spartan"/>
                <a:cs typeface="League Spartan"/>
                <a:sym typeface="League Spartan"/>
              </a:rPr>
              <a:t>DATA HANDLING</a:t>
            </a:r>
          </a:p>
        </p:txBody>
      </p:sp>
      <p:sp>
        <p:nvSpPr>
          <p:cNvPr id="7" name="TextBox 7"/>
          <p:cNvSpPr txBox="1"/>
          <p:nvPr/>
        </p:nvSpPr>
        <p:spPr>
          <a:xfrm>
            <a:off x="493093" y="5745948"/>
            <a:ext cx="4248282"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ENCODING</a:t>
            </a:r>
          </a:p>
        </p:txBody>
      </p:sp>
      <p:sp>
        <p:nvSpPr>
          <p:cNvPr id="8" name="TextBox 8"/>
          <p:cNvSpPr txBox="1"/>
          <p:nvPr/>
        </p:nvSpPr>
        <p:spPr>
          <a:xfrm>
            <a:off x="5345771" y="5745948"/>
            <a:ext cx="343303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SCALING</a:t>
            </a:r>
          </a:p>
        </p:txBody>
      </p:sp>
      <p:sp>
        <p:nvSpPr>
          <p:cNvPr id="9" name="TextBox 9"/>
          <p:cNvSpPr txBox="1"/>
          <p:nvPr/>
        </p:nvSpPr>
        <p:spPr>
          <a:xfrm>
            <a:off x="9378877" y="5745948"/>
            <a:ext cx="3755747"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BALANCING</a:t>
            </a:r>
          </a:p>
        </p:txBody>
      </p:sp>
      <p:sp>
        <p:nvSpPr>
          <p:cNvPr id="10" name="TextBox 10"/>
          <p:cNvSpPr txBox="1"/>
          <p:nvPr/>
        </p:nvSpPr>
        <p:spPr>
          <a:xfrm>
            <a:off x="13734699" y="5745948"/>
            <a:ext cx="4060209"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CORRELATION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45716" y="1180397"/>
            <a:ext cx="5536108" cy="1638329"/>
            <a:chOff x="0" y="0"/>
            <a:chExt cx="1458070" cy="431494"/>
          </a:xfrm>
        </p:grpSpPr>
        <p:sp>
          <p:nvSpPr>
            <p:cNvPr id="4" name="Freeform 4"/>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5" name="TextBox 5"/>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24440" y="115818"/>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ENCODING</a:t>
            </a:r>
          </a:p>
        </p:txBody>
      </p:sp>
      <p:sp>
        <p:nvSpPr>
          <p:cNvPr id="7" name="TextBox 7"/>
          <p:cNvSpPr txBox="1"/>
          <p:nvPr/>
        </p:nvSpPr>
        <p:spPr>
          <a:xfrm>
            <a:off x="549573" y="1367577"/>
            <a:ext cx="5128395"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FOR BINARY COLUMNS USED LABEL ENCODER</a:t>
            </a:r>
          </a:p>
        </p:txBody>
      </p:sp>
      <p:grpSp>
        <p:nvGrpSpPr>
          <p:cNvPr id="8" name="Group 8"/>
          <p:cNvGrpSpPr/>
          <p:nvPr/>
        </p:nvGrpSpPr>
        <p:grpSpPr>
          <a:xfrm>
            <a:off x="6377125" y="1180397"/>
            <a:ext cx="5536108" cy="1638329"/>
            <a:chOff x="0" y="0"/>
            <a:chExt cx="1458070" cy="431494"/>
          </a:xfrm>
        </p:grpSpPr>
        <p:sp>
          <p:nvSpPr>
            <p:cNvPr id="9" name="Freeform 9"/>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10" name="TextBox 10"/>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6580981" y="1377102"/>
            <a:ext cx="5128395" cy="1047673"/>
          </a:xfrm>
          <a:prstGeom prst="rect">
            <a:avLst/>
          </a:prstGeom>
        </p:spPr>
        <p:txBody>
          <a:bodyPr lIns="0" tIns="0" rIns="0" bIns="0" rtlCol="0" anchor="t">
            <a:spAutoFit/>
          </a:bodyPr>
          <a:lstStyle/>
          <a:p>
            <a:pPr algn="ctr">
              <a:lnSpc>
                <a:spcPts val="4200"/>
              </a:lnSpc>
            </a:pPr>
            <a:r>
              <a:rPr lang="en-US" sz="3000">
                <a:solidFill>
                  <a:srgbClr val="FFFFFF"/>
                </a:solidFill>
                <a:latin typeface="Source Sans Pro"/>
                <a:ea typeface="Source Sans Pro"/>
                <a:cs typeface="Source Sans Pro"/>
                <a:sym typeface="Source Sans Pro"/>
              </a:rPr>
              <a:t>FOR ORDINAL COLUMNS USED ORDINAL ENCODER</a:t>
            </a:r>
          </a:p>
        </p:txBody>
      </p:sp>
      <p:grpSp>
        <p:nvGrpSpPr>
          <p:cNvPr id="12" name="Group 12"/>
          <p:cNvGrpSpPr/>
          <p:nvPr/>
        </p:nvGrpSpPr>
        <p:grpSpPr>
          <a:xfrm>
            <a:off x="12406175" y="1180397"/>
            <a:ext cx="5536108" cy="1638329"/>
            <a:chOff x="0" y="0"/>
            <a:chExt cx="1458070" cy="431494"/>
          </a:xfrm>
        </p:grpSpPr>
        <p:sp>
          <p:nvSpPr>
            <p:cNvPr id="13" name="Freeform 13"/>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14" name="TextBox 14"/>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2608558" y="1377102"/>
            <a:ext cx="5128395" cy="1047673"/>
          </a:xfrm>
          <a:prstGeom prst="rect">
            <a:avLst/>
          </a:prstGeom>
        </p:spPr>
        <p:txBody>
          <a:bodyPr lIns="0" tIns="0" rIns="0" bIns="0" rtlCol="0" anchor="t">
            <a:spAutoFit/>
          </a:bodyPr>
          <a:lstStyle/>
          <a:p>
            <a:pPr algn="ctr">
              <a:lnSpc>
                <a:spcPts val="4200"/>
              </a:lnSpc>
            </a:pPr>
            <a:r>
              <a:rPr lang="en-US" sz="3000">
                <a:solidFill>
                  <a:srgbClr val="FFFFFF"/>
                </a:solidFill>
                <a:latin typeface="Source Sans Pro"/>
                <a:ea typeface="Source Sans Pro"/>
                <a:cs typeface="Source Sans Pro"/>
                <a:sym typeface="Source Sans Pro"/>
              </a:rPr>
              <a:t>USED LABEL ENCODER FOR TARGET COLUMN</a:t>
            </a:r>
          </a:p>
        </p:txBody>
      </p:sp>
      <p:sp>
        <p:nvSpPr>
          <p:cNvPr id="16" name="TextBox 16"/>
          <p:cNvSpPr txBox="1"/>
          <p:nvPr/>
        </p:nvSpPr>
        <p:spPr>
          <a:xfrm>
            <a:off x="6024440" y="2971126"/>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SCALING</a:t>
            </a:r>
          </a:p>
        </p:txBody>
      </p:sp>
      <p:grpSp>
        <p:nvGrpSpPr>
          <p:cNvPr id="17" name="Group 17"/>
          <p:cNvGrpSpPr/>
          <p:nvPr/>
        </p:nvGrpSpPr>
        <p:grpSpPr>
          <a:xfrm>
            <a:off x="3394196" y="3884007"/>
            <a:ext cx="11499608" cy="1638329"/>
            <a:chOff x="0" y="0"/>
            <a:chExt cx="3028703" cy="431494"/>
          </a:xfrm>
        </p:grpSpPr>
        <p:sp>
          <p:nvSpPr>
            <p:cNvPr id="18" name="Freeform 18"/>
            <p:cNvSpPr/>
            <p:nvPr/>
          </p:nvSpPr>
          <p:spPr>
            <a:xfrm>
              <a:off x="0" y="0"/>
              <a:ext cx="3028703" cy="431494"/>
            </a:xfrm>
            <a:custGeom>
              <a:avLst/>
              <a:gdLst/>
              <a:ahLst/>
              <a:cxnLst/>
              <a:rect l="l" t="t" r="r" b="b"/>
              <a:pathLst>
                <a:path w="3028703" h="431494">
                  <a:moveTo>
                    <a:pt x="34335" y="0"/>
                  </a:moveTo>
                  <a:lnTo>
                    <a:pt x="2994368" y="0"/>
                  </a:lnTo>
                  <a:cubicBezTo>
                    <a:pt x="3013331" y="0"/>
                    <a:pt x="3028703" y="15372"/>
                    <a:pt x="3028703" y="34335"/>
                  </a:cubicBezTo>
                  <a:lnTo>
                    <a:pt x="3028703" y="397159"/>
                  </a:lnTo>
                  <a:cubicBezTo>
                    <a:pt x="3028703" y="406265"/>
                    <a:pt x="3025086" y="414999"/>
                    <a:pt x="3018647" y="421438"/>
                  </a:cubicBezTo>
                  <a:cubicBezTo>
                    <a:pt x="3012208" y="427877"/>
                    <a:pt x="3003475" y="431494"/>
                    <a:pt x="2994368" y="431494"/>
                  </a:cubicBezTo>
                  <a:lnTo>
                    <a:pt x="34335" y="431494"/>
                  </a:lnTo>
                  <a:cubicBezTo>
                    <a:pt x="15372" y="431494"/>
                    <a:pt x="0" y="416122"/>
                    <a:pt x="0" y="397159"/>
                  </a:cubicBezTo>
                  <a:lnTo>
                    <a:pt x="0" y="34335"/>
                  </a:lnTo>
                  <a:cubicBezTo>
                    <a:pt x="0" y="15372"/>
                    <a:pt x="15372" y="0"/>
                    <a:pt x="34335" y="0"/>
                  </a:cubicBezTo>
                  <a:close/>
                </a:path>
              </a:pathLst>
            </a:custGeom>
            <a:solidFill>
              <a:srgbClr val="004AAD"/>
            </a:solidFill>
          </p:spPr>
          <p:txBody>
            <a:bodyPr/>
            <a:lstStyle/>
            <a:p>
              <a:endParaRPr lang="ar-EG"/>
            </a:p>
          </p:txBody>
        </p:sp>
        <p:sp>
          <p:nvSpPr>
            <p:cNvPr id="19" name="TextBox 19"/>
            <p:cNvSpPr txBox="1"/>
            <p:nvPr/>
          </p:nvSpPr>
          <p:spPr>
            <a:xfrm>
              <a:off x="0" y="-47625"/>
              <a:ext cx="3028703" cy="479119"/>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3817647" y="4071187"/>
            <a:ext cx="10652706"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TRIED DIFFERENT SCALERS BUT THE BEST SUITABLE ONE IS MINMXAX SCALER</a:t>
            </a:r>
          </a:p>
        </p:txBody>
      </p:sp>
      <p:sp>
        <p:nvSpPr>
          <p:cNvPr id="21" name="TextBox 21"/>
          <p:cNvSpPr txBox="1"/>
          <p:nvPr/>
        </p:nvSpPr>
        <p:spPr>
          <a:xfrm>
            <a:off x="5577177" y="5667453"/>
            <a:ext cx="713364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BALANCING DATA</a:t>
            </a:r>
          </a:p>
        </p:txBody>
      </p:sp>
      <p:grpSp>
        <p:nvGrpSpPr>
          <p:cNvPr id="22" name="Group 22"/>
          <p:cNvGrpSpPr/>
          <p:nvPr/>
        </p:nvGrpSpPr>
        <p:grpSpPr>
          <a:xfrm>
            <a:off x="6634360" y="6723538"/>
            <a:ext cx="11307924" cy="2980116"/>
            <a:chOff x="0" y="0"/>
            <a:chExt cx="2978219" cy="784887"/>
          </a:xfrm>
        </p:grpSpPr>
        <p:sp>
          <p:nvSpPr>
            <p:cNvPr id="23" name="Freeform 23"/>
            <p:cNvSpPr/>
            <p:nvPr/>
          </p:nvSpPr>
          <p:spPr>
            <a:xfrm>
              <a:off x="0" y="0"/>
              <a:ext cx="2978219" cy="784887"/>
            </a:xfrm>
            <a:custGeom>
              <a:avLst/>
              <a:gdLst/>
              <a:ahLst/>
              <a:cxnLst/>
              <a:rect l="l" t="t" r="r" b="b"/>
              <a:pathLst>
                <a:path w="2978219" h="784887">
                  <a:moveTo>
                    <a:pt x="34917" y="0"/>
                  </a:moveTo>
                  <a:lnTo>
                    <a:pt x="2943302" y="0"/>
                  </a:lnTo>
                  <a:cubicBezTo>
                    <a:pt x="2962586" y="0"/>
                    <a:pt x="2978219" y="15633"/>
                    <a:pt x="2978219" y="34917"/>
                  </a:cubicBezTo>
                  <a:lnTo>
                    <a:pt x="2978219" y="749970"/>
                  </a:lnTo>
                  <a:cubicBezTo>
                    <a:pt x="2978219" y="759230"/>
                    <a:pt x="2974540" y="768111"/>
                    <a:pt x="2967992" y="774660"/>
                  </a:cubicBezTo>
                  <a:cubicBezTo>
                    <a:pt x="2961443" y="781208"/>
                    <a:pt x="2952562" y="784887"/>
                    <a:pt x="2943302" y="784887"/>
                  </a:cubicBezTo>
                  <a:lnTo>
                    <a:pt x="34917" y="784887"/>
                  </a:lnTo>
                  <a:cubicBezTo>
                    <a:pt x="25656" y="784887"/>
                    <a:pt x="16775" y="781208"/>
                    <a:pt x="10227" y="774660"/>
                  </a:cubicBezTo>
                  <a:cubicBezTo>
                    <a:pt x="3679" y="768111"/>
                    <a:pt x="0" y="759230"/>
                    <a:pt x="0" y="749970"/>
                  </a:cubicBezTo>
                  <a:lnTo>
                    <a:pt x="0" y="34917"/>
                  </a:lnTo>
                  <a:cubicBezTo>
                    <a:pt x="0" y="15633"/>
                    <a:pt x="15633" y="0"/>
                    <a:pt x="34917" y="0"/>
                  </a:cubicBezTo>
                  <a:close/>
                </a:path>
              </a:pathLst>
            </a:custGeom>
            <a:solidFill>
              <a:srgbClr val="004AAD"/>
            </a:solidFill>
          </p:spPr>
          <p:txBody>
            <a:bodyPr/>
            <a:lstStyle/>
            <a:p>
              <a:endParaRPr lang="ar-EG"/>
            </a:p>
          </p:txBody>
        </p:sp>
        <p:sp>
          <p:nvSpPr>
            <p:cNvPr id="24" name="TextBox 24"/>
            <p:cNvSpPr txBox="1"/>
            <p:nvPr/>
          </p:nvSpPr>
          <p:spPr>
            <a:xfrm>
              <a:off x="0" y="-47625"/>
              <a:ext cx="2978219" cy="832512"/>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6961969" y="6953073"/>
            <a:ext cx="10652706" cy="2454372"/>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USED MANY TECHNIQUES TO OVERSAMPLE AND UNDERSAMPLE </a:t>
            </a:r>
          </a:p>
          <a:p>
            <a:pPr algn="ctr">
              <a:lnSpc>
                <a:spcPts val="4900"/>
              </a:lnSpc>
            </a:pPr>
            <a:r>
              <a:rPr lang="en-US" sz="3500">
                <a:solidFill>
                  <a:srgbClr val="FFFFFF"/>
                </a:solidFill>
                <a:latin typeface="Source Sans Pro"/>
                <a:ea typeface="Source Sans Pro"/>
                <a:cs typeface="Source Sans Pro"/>
                <a:sym typeface="Source Sans Pro"/>
              </a:rPr>
              <a:t>BUT THE BEST ONE WAS SMOTE AND THE DATA BECAME 6400 FOR BOTH CLASSES</a:t>
            </a:r>
          </a:p>
        </p:txBody>
      </p:sp>
      <p:grpSp>
        <p:nvGrpSpPr>
          <p:cNvPr id="26" name="Group 26"/>
          <p:cNvGrpSpPr/>
          <p:nvPr/>
        </p:nvGrpSpPr>
        <p:grpSpPr>
          <a:xfrm>
            <a:off x="626142" y="6723538"/>
            <a:ext cx="5750983" cy="2980116"/>
            <a:chOff x="0" y="0"/>
            <a:chExt cx="1458070" cy="755561"/>
          </a:xfrm>
        </p:grpSpPr>
        <p:sp>
          <p:nvSpPr>
            <p:cNvPr id="27" name="Freeform 27"/>
            <p:cNvSpPr/>
            <p:nvPr/>
          </p:nvSpPr>
          <p:spPr>
            <a:xfrm>
              <a:off x="0" y="0"/>
              <a:ext cx="1458070" cy="755561"/>
            </a:xfrm>
            <a:custGeom>
              <a:avLst/>
              <a:gdLst/>
              <a:ahLst/>
              <a:cxnLst/>
              <a:rect l="l" t="t" r="r" b="b"/>
              <a:pathLst>
                <a:path w="1458070" h="755561">
                  <a:moveTo>
                    <a:pt x="68656" y="0"/>
                  </a:moveTo>
                  <a:lnTo>
                    <a:pt x="1389414" y="0"/>
                  </a:lnTo>
                  <a:cubicBezTo>
                    <a:pt x="1407623" y="0"/>
                    <a:pt x="1425085" y="7233"/>
                    <a:pt x="1437961" y="20109"/>
                  </a:cubicBezTo>
                  <a:cubicBezTo>
                    <a:pt x="1450836" y="32984"/>
                    <a:pt x="1458070" y="50447"/>
                    <a:pt x="1458070" y="68656"/>
                  </a:cubicBezTo>
                  <a:lnTo>
                    <a:pt x="1458070" y="686905"/>
                  </a:lnTo>
                  <a:cubicBezTo>
                    <a:pt x="1458070" y="705114"/>
                    <a:pt x="1450836" y="722577"/>
                    <a:pt x="1437961" y="735452"/>
                  </a:cubicBezTo>
                  <a:cubicBezTo>
                    <a:pt x="1425085" y="748327"/>
                    <a:pt x="1407623" y="755561"/>
                    <a:pt x="1389414" y="755561"/>
                  </a:cubicBezTo>
                  <a:lnTo>
                    <a:pt x="68656" y="755561"/>
                  </a:lnTo>
                  <a:cubicBezTo>
                    <a:pt x="50447" y="755561"/>
                    <a:pt x="32984" y="748327"/>
                    <a:pt x="20109" y="735452"/>
                  </a:cubicBezTo>
                  <a:cubicBezTo>
                    <a:pt x="7233" y="722577"/>
                    <a:pt x="0" y="705114"/>
                    <a:pt x="0" y="686905"/>
                  </a:cubicBezTo>
                  <a:lnTo>
                    <a:pt x="0" y="68656"/>
                  </a:lnTo>
                  <a:cubicBezTo>
                    <a:pt x="0" y="50447"/>
                    <a:pt x="7233" y="32984"/>
                    <a:pt x="20109" y="20109"/>
                  </a:cubicBezTo>
                  <a:cubicBezTo>
                    <a:pt x="32984" y="7233"/>
                    <a:pt x="50447" y="0"/>
                    <a:pt x="68656" y="0"/>
                  </a:cubicBezTo>
                  <a:close/>
                </a:path>
              </a:pathLst>
            </a:custGeom>
            <a:solidFill>
              <a:srgbClr val="004AAD"/>
            </a:solidFill>
          </p:spPr>
          <p:txBody>
            <a:bodyPr/>
            <a:lstStyle/>
            <a:p>
              <a:endParaRPr lang="ar-EG"/>
            </a:p>
          </p:txBody>
        </p:sp>
        <p:sp>
          <p:nvSpPr>
            <p:cNvPr id="28" name="TextBox 28"/>
            <p:cNvSpPr txBox="1"/>
            <p:nvPr/>
          </p:nvSpPr>
          <p:spPr>
            <a:xfrm>
              <a:off x="0" y="-47625"/>
              <a:ext cx="1458070" cy="803186"/>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837911" y="7394505"/>
            <a:ext cx="5327445" cy="1561984"/>
          </a:xfrm>
          <a:prstGeom prst="rect">
            <a:avLst/>
          </a:prstGeom>
        </p:spPr>
        <p:txBody>
          <a:bodyPr lIns="0" tIns="0" rIns="0" bIns="0" rtlCol="0" anchor="t">
            <a:spAutoFit/>
          </a:bodyPr>
          <a:lstStyle/>
          <a:p>
            <a:pPr algn="ctr">
              <a:lnSpc>
                <a:spcPts val="6299"/>
              </a:lnSpc>
            </a:pPr>
            <a:r>
              <a:rPr lang="en-US" sz="4500">
                <a:solidFill>
                  <a:srgbClr val="FFFFFF"/>
                </a:solidFill>
                <a:latin typeface="Source Sans Pro"/>
                <a:ea typeface="Source Sans Pro"/>
                <a:cs typeface="Source Sans Pro"/>
                <a:sym typeface="Source Sans Pro"/>
              </a:rPr>
              <a:t>SHAPE WAS </a:t>
            </a:r>
          </a:p>
          <a:p>
            <a:pPr algn="ctr">
              <a:lnSpc>
                <a:spcPts val="6299"/>
              </a:lnSpc>
            </a:pPr>
            <a:r>
              <a:rPr lang="en-US" sz="4500">
                <a:solidFill>
                  <a:srgbClr val="FFFFFF"/>
                </a:solidFill>
                <a:latin typeface="Source Sans Pro"/>
                <a:ea typeface="Source Sans Pro"/>
                <a:cs typeface="Source Sans Pro"/>
                <a:sym typeface="Source Sans Pro"/>
              </a:rPr>
              <a:t>6400 : 1600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618508" y="2363687"/>
            <a:ext cx="5536108" cy="2405065"/>
            <a:chOff x="0" y="0"/>
            <a:chExt cx="1458070" cy="633433"/>
          </a:xfrm>
        </p:grpSpPr>
        <p:sp>
          <p:nvSpPr>
            <p:cNvPr id="7" name="Freeform 7"/>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753539"/>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CORRELATION</a:t>
            </a:r>
          </a:p>
        </p:txBody>
      </p:sp>
      <p:sp>
        <p:nvSpPr>
          <p:cNvPr id="10" name="TextBox 10"/>
          <p:cNvSpPr txBox="1"/>
          <p:nvPr/>
        </p:nvSpPr>
        <p:spPr>
          <a:xfrm>
            <a:off x="2822364" y="2483595"/>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NUMERICAL COLUMNS USED POINTBISERIALR</a:t>
            </a:r>
          </a:p>
        </p:txBody>
      </p:sp>
      <p:grpSp>
        <p:nvGrpSpPr>
          <p:cNvPr id="11" name="Group 11"/>
          <p:cNvGrpSpPr/>
          <p:nvPr/>
        </p:nvGrpSpPr>
        <p:grpSpPr>
          <a:xfrm>
            <a:off x="9928054" y="2363687"/>
            <a:ext cx="5536108" cy="2405065"/>
            <a:chOff x="0" y="0"/>
            <a:chExt cx="1458070" cy="633433"/>
          </a:xfrm>
        </p:grpSpPr>
        <p:sp>
          <p:nvSpPr>
            <p:cNvPr id="12" name="Freeform 12"/>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13" name="TextBox 13"/>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0131910" y="2483595"/>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BINARY COLUMNS USED </a:t>
            </a:r>
          </a:p>
          <a:p>
            <a:pPr algn="ctr">
              <a:lnSpc>
                <a:spcPts val="5599"/>
              </a:lnSpc>
            </a:pPr>
            <a:r>
              <a:rPr lang="en-US" sz="3999">
                <a:solidFill>
                  <a:srgbClr val="FFFFFF"/>
                </a:solidFill>
                <a:latin typeface="Source Sans Pro"/>
                <a:ea typeface="Source Sans Pro"/>
                <a:cs typeface="Source Sans Pro"/>
                <a:sym typeface="Source Sans Pro"/>
              </a:rPr>
              <a:t>CHI2 SCORE</a:t>
            </a:r>
          </a:p>
        </p:txBody>
      </p:sp>
      <p:grpSp>
        <p:nvGrpSpPr>
          <p:cNvPr id="15" name="Group 15"/>
          <p:cNvGrpSpPr/>
          <p:nvPr/>
        </p:nvGrpSpPr>
        <p:grpSpPr>
          <a:xfrm>
            <a:off x="10133384" y="6368951"/>
            <a:ext cx="5536108" cy="2405065"/>
            <a:chOff x="0" y="0"/>
            <a:chExt cx="1458070" cy="633433"/>
          </a:xfrm>
        </p:grpSpPr>
        <p:sp>
          <p:nvSpPr>
            <p:cNvPr id="16" name="Freeform 16"/>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17" name="TextBox 17"/>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0335767" y="6487304"/>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ORDINAL COLUMNS USED SPEARMANR</a:t>
            </a:r>
          </a:p>
        </p:txBody>
      </p:sp>
      <p:grpSp>
        <p:nvGrpSpPr>
          <p:cNvPr id="19" name="Group 19"/>
          <p:cNvGrpSpPr/>
          <p:nvPr/>
        </p:nvGrpSpPr>
        <p:grpSpPr>
          <a:xfrm>
            <a:off x="2618508" y="6378341"/>
            <a:ext cx="5536108" cy="2395675"/>
            <a:chOff x="0" y="0"/>
            <a:chExt cx="1458070" cy="630960"/>
          </a:xfrm>
        </p:grpSpPr>
        <p:sp>
          <p:nvSpPr>
            <p:cNvPr id="20" name="Freeform 20"/>
            <p:cNvSpPr/>
            <p:nvPr/>
          </p:nvSpPr>
          <p:spPr>
            <a:xfrm>
              <a:off x="0" y="0"/>
              <a:ext cx="1458070" cy="630960"/>
            </a:xfrm>
            <a:custGeom>
              <a:avLst/>
              <a:gdLst/>
              <a:ahLst/>
              <a:cxnLst/>
              <a:rect l="l" t="t" r="r" b="b"/>
              <a:pathLst>
                <a:path w="1458070" h="630960">
                  <a:moveTo>
                    <a:pt x="71320" y="0"/>
                  </a:moveTo>
                  <a:lnTo>
                    <a:pt x="1386749" y="0"/>
                  </a:lnTo>
                  <a:cubicBezTo>
                    <a:pt x="1405665" y="0"/>
                    <a:pt x="1423805" y="7514"/>
                    <a:pt x="1437180" y="20889"/>
                  </a:cubicBezTo>
                  <a:cubicBezTo>
                    <a:pt x="1450556" y="34264"/>
                    <a:pt x="1458070" y="52405"/>
                    <a:pt x="1458070" y="71320"/>
                  </a:cubicBezTo>
                  <a:lnTo>
                    <a:pt x="1458070" y="559639"/>
                  </a:lnTo>
                  <a:cubicBezTo>
                    <a:pt x="1458070" y="599028"/>
                    <a:pt x="1426138" y="630960"/>
                    <a:pt x="1386749" y="630960"/>
                  </a:cubicBezTo>
                  <a:lnTo>
                    <a:pt x="71320" y="630960"/>
                  </a:lnTo>
                  <a:cubicBezTo>
                    <a:pt x="31931" y="630960"/>
                    <a:pt x="0" y="599028"/>
                    <a:pt x="0" y="559639"/>
                  </a:cubicBezTo>
                  <a:lnTo>
                    <a:pt x="0" y="71320"/>
                  </a:lnTo>
                  <a:cubicBezTo>
                    <a:pt x="0" y="31931"/>
                    <a:pt x="31931" y="0"/>
                    <a:pt x="71320" y="0"/>
                  </a:cubicBezTo>
                  <a:close/>
                </a:path>
              </a:pathLst>
            </a:custGeom>
            <a:solidFill>
              <a:srgbClr val="004AAD"/>
            </a:solidFill>
          </p:spPr>
          <p:txBody>
            <a:bodyPr/>
            <a:lstStyle/>
            <a:p>
              <a:endParaRPr lang="ar-EG"/>
            </a:p>
          </p:txBody>
        </p:sp>
        <p:sp>
          <p:nvSpPr>
            <p:cNvPr id="21" name="TextBox 21"/>
            <p:cNvSpPr txBox="1"/>
            <p:nvPr/>
          </p:nvSpPr>
          <p:spPr>
            <a:xfrm>
              <a:off x="0" y="-47625"/>
              <a:ext cx="1458070" cy="67858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822364" y="6487304"/>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THEN USED MUTUAL INFO</a:t>
            </a:r>
          </a:p>
          <a:p>
            <a:pPr algn="ctr">
              <a:lnSpc>
                <a:spcPts val="5599"/>
              </a:lnSpc>
            </a:pPr>
            <a:r>
              <a:rPr lang="en-US" sz="3999">
                <a:solidFill>
                  <a:srgbClr val="FFFFFF"/>
                </a:solidFill>
                <a:latin typeface="Source Sans Pro"/>
                <a:ea typeface="Source Sans Pro"/>
                <a:cs typeface="Source Sans Pro"/>
                <a:sym typeface="Source Sans Pro"/>
              </a:rPr>
              <a:t>FOR ALL COLUMNS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077877"/>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69173"/>
            <a:ext cx="11644372" cy="1233887"/>
          </a:xfrm>
          <a:prstGeom prst="rect">
            <a:avLst/>
          </a:prstGeom>
        </p:spPr>
        <p:txBody>
          <a:bodyPr lIns="0" tIns="0" rIns="0" bIns="0" rtlCol="0" anchor="t">
            <a:spAutoFit/>
          </a:bodyPr>
          <a:lstStyle/>
          <a:p>
            <a:pPr algn="ctr">
              <a:lnSpc>
                <a:spcPts val="10132"/>
              </a:lnSpc>
            </a:pPr>
            <a:r>
              <a:rPr lang="en-US" sz="7237">
                <a:solidFill>
                  <a:srgbClr val="004AAD"/>
                </a:solidFill>
                <a:latin typeface="League Spartan"/>
                <a:ea typeface="League Spartan"/>
                <a:cs typeface="League Spartan"/>
                <a:sym typeface="League Spartan"/>
              </a:rPr>
              <a:t>MODEL TRAINING</a:t>
            </a:r>
          </a:p>
        </p:txBody>
      </p:sp>
      <p:sp>
        <p:nvSpPr>
          <p:cNvPr id="7" name="TextBox 7"/>
          <p:cNvSpPr txBox="1"/>
          <p:nvPr/>
        </p:nvSpPr>
        <p:spPr>
          <a:xfrm>
            <a:off x="9217224" y="5712877"/>
            <a:ext cx="3951599" cy="617332"/>
          </a:xfrm>
          <a:prstGeom prst="rect">
            <a:avLst/>
          </a:prstGeom>
        </p:spPr>
        <p:txBody>
          <a:bodyPr lIns="0" tIns="0" rIns="0" bIns="0" rtlCol="0" anchor="t">
            <a:spAutoFit/>
          </a:bodyPr>
          <a:lstStyle/>
          <a:p>
            <a:pPr algn="ctr">
              <a:lnSpc>
                <a:spcPts val="5088"/>
              </a:lnSpc>
            </a:pPr>
            <a:r>
              <a:rPr lang="en-US" sz="3634" b="1">
                <a:solidFill>
                  <a:srgbClr val="FFFFFF"/>
                </a:solidFill>
                <a:latin typeface="League Spartan"/>
                <a:ea typeface="League Spartan"/>
                <a:cs typeface="League Spartan"/>
                <a:sym typeface="League Spartan"/>
              </a:rPr>
              <a:t>MODELS TRIED</a:t>
            </a:r>
          </a:p>
        </p:txBody>
      </p:sp>
      <p:sp>
        <p:nvSpPr>
          <p:cNvPr id="8" name="TextBox 8"/>
          <p:cNvSpPr txBox="1"/>
          <p:nvPr/>
        </p:nvSpPr>
        <p:spPr>
          <a:xfrm>
            <a:off x="637751" y="5703352"/>
            <a:ext cx="343303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PCA</a:t>
            </a:r>
          </a:p>
        </p:txBody>
      </p:sp>
      <p:sp>
        <p:nvSpPr>
          <p:cNvPr id="9" name="TextBox 9"/>
          <p:cNvSpPr txBox="1"/>
          <p:nvPr/>
        </p:nvSpPr>
        <p:spPr>
          <a:xfrm>
            <a:off x="4742720" y="5703352"/>
            <a:ext cx="3798229" cy="679416"/>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GRID SEARCH</a:t>
            </a:r>
          </a:p>
        </p:txBody>
      </p:sp>
      <p:sp>
        <p:nvSpPr>
          <p:cNvPr id="10" name="TextBox 10"/>
          <p:cNvSpPr txBox="1"/>
          <p:nvPr/>
        </p:nvSpPr>
        <p:spPr>
          <a:xfrm>
            <a:off x="13845098" y="5703352"/>
            <a:ext cx="380515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EVALUATION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6024440" y="413030"/>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PCA</a:t>
            </a:r>
          </a:p>
        </p:txBody>
      </p:sp>
      <p:sp>
        <p:nvSpPr>
          <p:cNvPr id="4" name="TextBox 4"/>
          <p:cNvSpPr txBox="1"/>
          <p:nvPr/>
        </p:nvSpPr>
        <p:spPr>
          <a:xfrm>
            <a:off x="6024440" y="3536740"/>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GRID SEARCH</a:t>
            </a:r>
          </a:p>
        </p:txBody>
      </p:sp>
      <p:sp>
        <p:nvSpPr>
          <p:cNvPr id="5" name="TextBox 5"/>
          <p:cNvSpPr txBox="1"/>
          <p:nvPr/>
        </p:nvSpPr>
        <p:spPr>
          <a:xfrm>
            <a:off x="5577177" y="6163513"/>
            <a:ext cx="713364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MODELS TRIED</a:t>
            </a:r>
          </a:p>
        </p:txBody>
      </p:sp>
      <p:grpSp>
        <p:nvGrpSpPr>
          <p:cNvPr id="6" name="Group 6"/>
          <p:cNvGrpSpPr/>
          <p:nvPr/>
        </p:nvGrpSpPr>
        <p:grpSpPr>
          <a:xfrm>
            <a:off x="263359" y="7343094"/>
            <a:ext cx="17761282" cy="1915206"/>
            <a:chOff x="0" y="0"/>
            <a:chExt cx="4677869" cy="504416"/>
          </a:xfrm>
        </p:grpSpPr>
        <p:sp>
          <p:nvSpPr>
            <p:cNvPr id="7" name="Freeform 7"/>
            <p:cNvSpPr/>
            <p:nvPr/>
          </p:nvSpPr>
          <p:spPr>
            <a:xfrm>
              <a:off x="0" y="0"/>
              <a:ext cx="4677868" cy="504416"/>
            </a:xfrm>
            <a:custGeom>
              <a:avLst/>
              <a:gdLst/>
              <a:ahLst/>
              <a:cxnLst/>
              <a:rect l="l" t="t" r="r" b="b"/>
              <a:pathLst>
                <a:path w="4677868" h="504416">
                  <a:moveTo>
                    <a:pt x="22230" y="0"/>
                  </a:moveTo>
                  <a:lnTo>
                    <a:pt x="4655638" y="0"/>
                  </a:lnTo>
                  <a:cubicBezTo>
                    <a:pt x="4667915" y="0"/>
                    <a:pt x="4677868" y="9953"/>
                    <a:pt x="4677868" y="22230"/>
                  </a:cubicBezTo>
                  <a:lnTo>
                    <a:pt x="4677868" y="482186"/>
                  </a:lnTo>
                  <a:cubicBezTo>
                    <a:pt x="4677868" y="494464"/>
                    <a:pt x="4667915" y="504416"/>
                    <a:pt x="4655638" y="504416"/>
                  </a:cubicBezTo>
                  <a:lnTo>
                    <a:pt x="22230" y="504416"/>
                  </a:lnTo>
                  <a:cubicBezTo>
                    <a:pt x="9953" y="504416"/>
                    <a:pt x="0" y="494464"/>
                    <a:pt x="0" y="482186"/>
                  </a:cubicBezTo>
                  <a:lnTo>
                    <a:pt x="0" y="22230"/>
                  </a:lnTo>
                  <a:cubicBezTo>
                    <a:pt x="0" y="9953"/>
                    <a:pt x="9953" y="0"/>
                    <a:pt x="22230" y="0"/>
                  </a:cubicBezTo>
                  <a:close/>
                </a:path>
              </a:pathLst>
            </a:custGeom>
            <a:solidFill>
              <a:srgbClr val="004AAD"/>
            </a:solidFill>
          </p:spPr>
          <p:txBody>
            <a:bodyPr/>
            <a:lstStyle/>
            <a:p>
              <a:endParaRPr lang="ar-EG"/>
            </a:p>
          </p:txBody>
        </p:sp>
        <p:sp>
          <p:nvSpPr>
            <p:cNvPr id="8" name="TextBox 8"/>
            <p:cNvSpPr txBox="1"/>
            <p:nvPr/>
          </p:nvSpPr>
          <p:spPr>
            <a:xfrm>
              <a:off x="0" y="-47625"/>
              <a:ext cx="4677869" cy="55204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777932" y="7481605"/>
            <a:ext cx="16732135" cy="1581034"/>
          </a:xfrm>
          <a:prstGeom prst="rect">
            <a:avLst/>
          </a:prstGeom>
        </p:spPr>
        <p:txBody>
          <a:bodyPr lIns="0" tIns="0" rIns="0" bIns="0" rtlCol="0" anchor="t">
            <a:spAutoFit/>
          </a:bodyPr>
          <a:lstStyle/>
          <a:p>
            <a:pPr marL="647700" lvl="1" indent="-323850" algn="l">
              <a:lnSpc>
                <a:spcPts val="4200"/>
              </a:lnSpc>
              <a:buAutoNum type="arabicPeriod"/>
            </a:pPr>
            <a:r>
              <a:rPr lang="en-US" sz="3000">
                <a:solidFill>
                  <a:srgbClr val="FFFFFF"/>
                </a:solidFill>
                <a:latin typeface="Source Sans Pro"/>
                <a:ea typeface="Source Sans Pro"/>
                <a:cs typeface="Source Sans Pro"/>
                <a:sym typeface="Source Sans Pro"/>
              </a:rPr>
              <a:t>TRIED LOGITSIC REGRESSION, SVM, RANDOMFOREST, XGBOOST, CATBOOST, LIGHTGBM</a:t>
            </a:r>
          </a:p>
          <a:p>
            <a:pPr marL="647700" lvl="1" indent="-323850" algn="l">
              <a:lnSpc>
                <a:spcPts val="4200"/>
              </a:lnSpc>
              <a:buAutoNum type="arabicPeriod"/>
            </a:pPr>
            <a:r>
              <a:rPr lang="en-US" sz="3000">
                <a:solidFill>
                  <a:srgbClr val="FFFFFF"/>
                </a:solidFill>
                <a:latin typeface="Source Sans Pro"/>
                <a:ea typeface="Source Sans Pro"/>
                <a:cs typeface="Source Sans Pro"/>
                <a:sym typeface="Source Sans Pro"/>
              </a:rPr>
              <a:t>TRIED ALSO MLP FOR MORE ROBUSTNESS WITH THIS DATA AND WITH PCA AND CALLBACKS WITH TRAINING</a:t>
            </a:r>
          </a:p>
        </p:txBody>
      </p:sp>
      <p:grpSp>
        <p:nvGrpSpPr>
          <p:cNvPr id="10" name="Group 10"/>
          <p:cNvGrpSpPr/>
          <p:nvPr/>
        </p:nvGrpSpPr>
        <p:grpSpPr>
          <a:xfrm>
            <a:off x="263359" y="1459042"/>
            <a:ext cx="17761282" cy="1915206"/>
            <a:chOff x="0" y="0"/>
            <a:chExt cx="4677869" cy="504416"/>
          </a:xfrm>
        </p:grpSpPr>
        <p:sp>
          <p:nvSpPr>
            <p:cNvPr id="11" name="Freeform 11"/>
            <p:cNvSpPr/>
            <p:nvPr/>
          </p:nvSpPr>
          <p:spPr>
            <a:xfrm>
              <a:off x="0" y="0"/>
              <a:ext cx="4677868" cy="504416"/>
            </a:xfrm>
            <a:custGeom>
              <a:avLst/>
              <a:gdLst/>
              <a:ahLst/>
              <a:cxnLst/>
              <a:rect l="l" t="t" r="r" b="b"/>
              <a:pathLst>
                <a:path w="4677868" h="504416">
                  <a:moveTo>
                    <a:pt x="22230" y="0"/>
                  </a:moveTo>
                  <a:lnTo>
                    <a:pt x="4655638" y="0"/>
                  </a:lnTo>
                  <a:cubicBezTo>
                    <a:pt x="4667915" y="0"/>
                    <a:pt x="4677868" y="9953"/>
                    <a:pt x="4677868" y="22230"/>
                  </a:cubicBezTo>
                  <a:lnTo>
                    <a:pt x="4677868" y="482186"/>
                  </a:lnTo>
                  <a:cubicBezTo>
                    <a:pt x="4677868" y="494464"/>
                    <a:pt x="4667915" y="504416"/>
                    <a:pt x="4655638" y="504416"/>
                  </a:cubicBezTo>
                  <a:lnTo>
                    <a:pt x="22230" y="504416"/>
                  </a:lnTo>
                  <a:cubicBezTo>
                    <a:pt x="9953" y="504416"/>
                    <a:pt x="0" y="494464"/>
                    <a:pt x="0" y="482186"/>
                  </a:cubicBezTo>
                  <a:lnTo>
                    <a:pt x="0" y="22230"/>
                  </a:lnTo>
                  <a:cubicBezTo>
                    <a:pt x="0" y="9953"/>
                    <a:pt x="9953" y="0"/>
                    <a:pt x="22230" y="0"/>
                  </a:cubicBezTo>
                  <a:close/>
                </a:path>
              </a:pathLst>
            </a:custGeom>
            <a:solidFill>
              <a:srgbClr val="004AAD"/>
            </a:solidFill>
          </p:spPr>
          <p:txBody>
            <a:bodyPr/>
            <a:lstStyle/>
            <a:p>
              <a:endParaRPr lang="ar-EG"/>
            </a:p>
          </p:txBody>
        </p:sp>
        <p:sp>
          <p:nvSpPr>
            <p:cNvPr id="12" name="TextBox 12"/>
            <p:cNvSpPr txBox="1"/>
            <p:nvPr/>
          </p:nvSpPr>
          <p:spPr>
            <a:xfrm>
              <a:off x="0" y="-47625"/>
              <a:ext cx="4677869" cy="552041"/>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777932" y="1775270"/>
            <a:ext cx="16732135"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TRIED MANY MODELS WITH PCA WITH MANY # COLUMNS TO GET BEST EVALUATION</a:t>
            </a:r>
          </a:p>
          <a:p>
            <a:pPr algn="ctr">
              <a:lnSpc>
                <a:spcPts val="4900"/>
              </a:lnSpc>
            </a:pPr>
            <a:r>
              <a:rPr lang="en-US" sz="3500">
                <a:solidFill>
                  <a:srgbClr val="FFFFFF"/>
                </a:solidFill>
                <a:latin typeface="Source Sans Pro"/>
                <a:ea typeface="Source Sans Pro"/>
                <a:cs typeface="Source Sans Pro"/>
                <a:sym typeface="Source Sans Pro"/>
              </a:rPr>
              <a:t>AND EVERY ONE WITH GRID SEARCH TO HANDLE HYPERPARAMETERS </a:t>
            </a:r>
          </a:p>
        </p:txBody>
      </p:sp>
      <p:grpSp>
        <p:nvGrpSpPr>
          <p:cNvPr id="14" name="Group 14"/>
          <p:cNvGrpSpPr/>
          <p:nvPr/>
        </p:nvGrpSpPr>
        <p:grpSpPr>
          <a:xfrm>
            <a:off x="263359" y="4582972"/>
            <a:ext cx="17761282" cy="1170966"/>
            <a:chOff x="0" y="0"/>
            <a:chExt cx="4677869" cy="308403"/>
          </a:xfrm>
        </p:grpSpPr>
        <p:sp>
          <p:nvSpPr>
            <p:cNvPr id="15" name="Freeform 15"/>
            <p:cNvSpPr/>
            <p:nvPr/>
          </p:nvSpPr>
          <p:spPr>
            <a:xfrm>
              <a:off x="0" y="0"/>
              <a:ext cx="4677868" cy="308403"/>
            </a:xfrm>
            <a:custGeom>
              <a:avLst/>
              <a:gdLst/>
              <a:ahLst/>
              <a:cxnLst/>
              <a:rect l="l" t="t" r="r" b="b"/>
              <a:pathLst>
                <a:path w="4677868" h="308403">
                  <a:moveTo>
                    <a:pt x="22230" y="0"/>
                  </a:moveTo>
                  <a:lnTo>
                    <a:pt x="4655638" y="0"/>
                  </a:lnTo>
                  <a:cubicBezTo>
                    <a:pt x="4667915" y="0"/>
                    <a:pt x="4677868" y="9953"/>
                    <a:pt x="4677868" y="22230"/>
                  </a:cubicBezTo>
                  <a:lnTo>
                    <a:pt x="4677868" y="286172"/>
                  </a:lnTo>
                  <a:cubicBezTo>
                    <a:pt x="4677868" y="298450"/>
                    <a:pt x="4667915" y="308403"/>
                    <a:pt x="4655638" y="308403"/>
                  </a:cubicBezTo>
                  <a:lnTo>
                    <a:pt x="22230" y="308403"/>
                  </a:lnTo>
                  <a:cubicBezTo>
                    <a:pt x="9953" y="308403"/>
                    <a:pt x="0" y="298450"/>
                    <a:pt x="0" y="286172"/>
                  </a:cubicBezTo>
                  <a:lnTo>
                    <a:pt x="0" y="22230"/>
                  </a:lnTo>
                  <a:cubicBezTo>
                    <a:pt x="0" y="9953"/>
                    <a:pt x="9953" y="0"/>
                    <a:pt x="22230" y="0"/>
                  </a:cubicBezTo>
                  <a:close/>
                </a:path>
              </a:pathLst>
            </a:custGeom>
            <a:solidFill>
              <a:srgbClr val="004AAD"/>
            </a:solidFill>
          </p:spPr>
          <p:txBody>
            <a:bodyPr/>
            <a:lstStyle/>
            <a:p>
              <a:endParaRPr lang="ar-EG"/>
            </a:p>
          </p:txBody>
        </p:sp>
        <p:sp>
          <p:nvSpPr>
            <p:cNvPr id="16" name="TextBox 16"/>
            <p:cNvSpPr txBox="1"/>
            <p:nvPr/>
          </p:nvSpPr>
          <p:spPr>
            <a:xfrm>
              <a:off x="0" y="-47625"/>
              <a:ext cx="4677869" cy="356028"/>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777932" y="4836667"/>
            <a:ext cx="16732135" cy="596900"/>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USED IT TO HANDLE HYPERPARAMETER TUNING FOR EACH MODEL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547512"/>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969918" y="2579757"/>
            <a:ext cx="13282296" cy="6224806"/>
            <a:chOff x="0" y="0"/>
            <a:chExt cx="3498218" cy="1639455"/>
          </a:xfrm>
        </p:grpSpPr>
        <p:sp>
          <p:nvSpPr>
            <p:cNvPr id="7" name="Freeform 7"/>
            <p:cNvSpPr/>
            <p:nvPr/>
          </p:nvSpPr>
          <p:spPr>
            <a:xfrm>
              <a:off x="0" y="0"/>
              <a:ext cx="3498218" cy="1639455"/>
            </a:xfrm>
            <a:custGeom>
              <a:avLst/>
              <a:gdLst/>
              <a:ahLst/>
              <a:cxnLst/>
              <a:rect l="l" t="t" r="r" b="b"/>
              <a:pathLst>
                <a:path w="3498218" h="1639455">
                  <a:moveTo>
                    <a:pt x="29727" y="0"/>
                  </a:moveTo>
                  <a:lnTo>
                    <a:pt x="3468491" y="0"/>
                  </a:lnTo>
                  <a:cubicBezTo>
                    <a:pt x="3476375" y="0"/>
                    <a:pt x="3483936" y="3132"/>
                    <a:pt x="3489511" y="8707"/>
                  </a:cubicBezTo>
                  <a:cubicBezTo>
                    <a:pt x="3495086" y="14282"/>
                    <a:pt x="3498218" y="21843"/>
                    <a:pt x="3498218" y="29727"/>
                  </a:cubicBezTo>
                  <a:lnTo>
                    <a:pt x="3498218" y="1609728"/>
                  </a:lnTo>
                  <a:cubicBezTo>
                    <a:pt x="3498218" y="1617612"/>
                    <a:pt x="3495086" y="1625173"/>
                    <a:pt x="3489511" y="1630748"/>
                  </a:cubicBezTo>
                  <a:cubicBezTo>
                    <a:pt x="3483936" y="1636323"/>
                    <a:pt x="3476375" y="1639455"/>
                    <a:pt x="3468491" y="1639455"/>
                  </a:cubicBezTo>
                  <a:lnTo>
                    <a:pt x="29727" y="1639455"/>
                  </a:lnTo>
                  <a:cubicBezTo>
                    <a:pt x="21843" y="1639455"/>
                    <a:pt x="14282" y="1636323"/>
                    <a:pt x="8707" y="1630748"/>
                  </a:cubicBezTo>
                  <a:cubicBezTo>
                    <a:pt x="3132" y="1625173"/>
                    <a:pt x="0" y="1617612"/>
                    <a:pt x="0" y="1609728"/>
                  </a:cubicBezTo>
                  <a:lnTo>
                    <a:pt x="0" y="29727"/>
                  </a:lnTo>
                  <a:cubicBezTo>
                    <a:pt x="0" y="21843"/>
                    <a:pt x="3132" y="14282"/>
                    <a:pt x="8707" y="8707"/>
                  </a:cubicBezTo>
                  <a:cubicBezTo>
                    <a:pt x="14282" y="3132"/>
                    <a:pt x="21843" y="0"/>
                    <a:pt x="29727" y="0"/>
                  </a:cubicBezTo>
                  <a:close/>
                </a:path>
              </a:pathLst>
            </a:custGeom>
            <a:solidFill>
              <a:srgbClr val="004AAD"/>
            </a:solidFill>
          </p:spPr>
          <p:txBody>
            <a:bodyPr/>
            <a:lstStyle/>
            <a:p>
              <a:endParaRPr lang="ar-EG"/>
            </a:p>
          </p:txBody>
        </p:sp>
        <p:sp>
          <p:nvSpPr>
            <p:cNvPr id="8" name="TextBox 8"/>
            <p:cNvSpPr txBox="1"/>
            <p:nvPr/>
          </p:nvSpPr>
          <p:spPr>
            <a:xfrm>
              <a:off x="0" y="-47625"/>
              <a:ext cx="3498218"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776365" y="923925"/>
            <a:ext cx="673527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EVALUATION</a:t>
            </a:r>
          </a:p>
        </p:txBody>
      </p:sp>
      <p:grpSp>
        <p:nvGrpSpPr>
          <p:cNvPr id="10" name="Group 10"/>
          <p:cNvGrpSpPr/>
          <p:nvPr/>
        </p:nvGrpSpPr>
        <p:grpSpPr>
          <a:xfrm>
            <a:off x="2035786" y="3701459"/>
            <a:ext cx="1868266" cy="186826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035786" y="6333305"/>
            <a:ext cx="1868266" cy="18682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150501" y="3996179"/>
            <a:ext cx="1638836" cy="1335977"/>
          </a:xfrm>
          <a:prstGeom prst="rect">
            <a:avLst/>
          </a:prstGeom>
        </p:spPr>
        <p:txBody>
          <a:bodyPr lIns="0" tIns="0" rIns="0" bIns="0" rtlCol="0" anchor="t">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id="17" name="TextBox 17"/>
          <p:cNvSpPr txBox="1"/>
          <p:nvPr/>
        </p:nvSpPr>
        <p:spPr>
          <a:xfrm>
            <a:off x="2150501" y="6618500"/>
            <a:ext cx="1638836" cy="1335977"/>
          </a:xfrm>
          <a:prstGeom prst="rect">
            <a:avLst/>
          </a:prstGeom>
        </p:spPr>
        <p:txBody>
          <a:bodyPr lIns="0" tIns="0" rIns="0" bIns="0" rtlCol="0" anchor="t">
            <a:spAutoFit/>
          </a:bodyPr>
          <a:lstStyle/>
          <a:p>
            <a:pPr algn="ctr">
              <a:lnSpc>
                <a:spcPts val="11002"/>
              </a:lnSpc>
            </a:pPr>
            <a:r>
              <a:rPr lang="en-US" sz="7859" b="1">
                <a:solidFill>
                  <a:srgbClr val="000000"/>
                </a:solidFill>
                <a:latin typeface="League Spartan"/>
                <a:ea typeface="League Spartan"/>
                <a:cs typeface="League Spartan"/>
                <a:sym typeface="League Spartan"/>
              </a:rPr>
              <a:t>2</a:t>
            </a:r>
          </a:p>
        </p:txBody>
      </p:sp>
      <p:sp>
        <p:nvSpPr>
          <p:cNvPr id="18" name="TextBox 18"/>
          <p:cNvSpPr txBox="1"/>
          <p:nvPr/>
        </p:nvSpPr>
        <p:spPr>
          <a:xfrm>
            <a:off x="4141320" y="3768875"/>
            <a:ext cx="11536671" cy="1609609"/>
          </a:xfrm>
          <a:prstGeom prst="rect">
            <a:avLst/>
          </a:prstGeom>
        </p:spPr>
        <p:txBody>
          <a:bodyPr lIns="0" tIns="0" rIns="0" bIns="0" rtlCol="0" anchor="t">
            <a:spAutoFit/>
          </a:bodyPr>
          <a:lstStyle/>
          <a:p>
            <a:pPr algn="l">
              <a:lnSpc>
                <a:spcPts val="6299"/>
              </a:lnSpc>
              <a:spcBef>
                <a:spcPct val="0"/>
              </a:spcBef>
            </a:pPr>
            <a:r>
              <a:rPr lang="en-US" sz="4500">
                <a:solidFill>
                  <a:srgbClr val="FFFFFF"/>
                </a:solidFill>
                <a:latin typeface="Poppins"/>
                <a:ea typeface="Poppins"/>
                <a:cs typeface="Poppins"/>
                <a:sym typeface="Poppins"/>
              </a:rPr>
              <a:t>Evaluated using f1-score , precision, recall and accuracy</a:t>
            </a:r>
          </a:p>
        </p:txBody>
      </p:sp>
      <p:sp>
        <p:nvSpPr>
          <p:cNvPr id="19" name="TextBox 19"/>
          <p:cNvSpPr txBox="1"/>
          <p:nvPr/>
        </p:nvSpPr>
        <p:spPr>
          <a:xfrm>
            <a:off x="4141320" y="6000700"/>
            <a:ext cx="11536671" cy="2409825"/>
          </a:xfrm>
          <a:prstGeom prst="rect">
            <a:avLst/>
          </a:prstGeom>
        </p:spPr>
        <p:txBody>
          <a:bodyPr lIns="0" tIns="0" rIns="0" bIns="0" rtlCol="0" anchor="t">
            <a:spAutoFit/>
          </a:bodyPr>
          <a:lstStyle/>
          <a:p>
            <a:pPr marL="0" lvl="0" indent="0" algn="l">
              <a:lnSpc>
                <a:spcPts val="6299"/>
              </a:lnSpc>
              <a:spcBef>
                <a:spcPct val="0"/>
              </a:spcBef>
            </a:pPr>
            <a:r>
              <a:rPr lang="en-US" sz="4500">
                <a:solidFill>
                  <a:srgbClr val="FFFFFF"/>
                </a:solidFill>
                <a:latin typeface="Poppins"/>
                <a:ea typeface="Poppins"/>
                <a:cs typeface="Poppins"/>
                <a:sym typeface="Poppins"/>
              </a:rPr>
              <a:t>The</a:t>
            </a:r>
            <a:r>
              <a:rPr lang="en-US" sz="4500" u="none" strike="noStrike">
                <a:solidFill>
                  <a:srgbClr val="FFFFFF"/>
                </a:solidFill>
                <a:latin typeface="Poppins"/>
                <a:ea typeface="Poppins"/>
                <a:cs typeface="Poppins"/>
                <a:sym typeface="Poppins"/>
              </a:rPr>
              <a:t>n best model with this metrices was catBoost and its the final model we will 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8146" y="2938898"/>
            <a:ext cx="9832317" cy="4409205"/>
          </a:xfrm>
          <a:custGeom>
            <a:avLst/>
            <a:gdLst/>
            <a:ahLst/>
            <a:cxnLst/>
            <a:rect l="l" t="t" r="r" b="b"/>
            <a:pathLst>
              <a:path w="9832317" h="4409205">
                <a:moveTo>
                  <a:pt x="0" y="0"/>
                </a:moveTo>
                <a:lnTo>
                  <a:pt x="9832317" y="0"/>
                </a:lnTo>
                <a:lnTo>
                  <a:pt x="9832317" y="4409204"/>
                </a:lnTo>
                <a:lnTo>
                  <a:pt x="0" y="4409204"/>
                </a:lnTo>
                <a:lnTo>
                  <a:pt x="0" y="0"/>
                </a:lnTo>
                <a:close/>
              </a:path>
            </a:pathLst>
          </a:custGeom>
          <a:blipFill>
            <a:blip r:embed="rId2"/>
            <a:stretch>
              <a:fillRect b="-6472"/>
            </a:stretch>
          </a:blipFill>
          <a:ln w="38100" cap="rnd">
            <a:solidFill>
              <a:srgbClr val="004AAD"/>
            </a:solidFill>
            <a:prstDash val="solid"/>
            <a:round/>
          </a:ln>
        </p:spPr>
        <p:txBody>
          <a:bodyPr/>
          <a:lstStyle/>
          <a:p>
            <a:endParaRPr lang="ar-EG"/>
          </a:p>
        </p:txBody>
      </p:sp>
      <p:sp>
        <p:nvSpPr>
          <p:cNvPr id="3" name="Freeform 3"/>
          <p:cNvSpPr/>
          <p:nvPr/>
        </p:nvSpPr>
        <p:spPr>
          <a:xfrm>
            <a:off x="10210463" y="2131113"/>
            <a:ext cx="7699391" cy="6024773"/>
          </a:xfrm>
          <a:custGeom>
            <a:avLst/>
            <a:gdLst/>
            <a:ahLst/>
            <a:cxnLst/>
            <a:rect l="l" t="t" r="r" b="b"/>
            <a:pathLst>
              <a:path w="7699391" h="6024773">
                <a:moveTo>
                  <a:pt x="0" y="0"/>
                </a:moveTo>
                <a:lnTo>
                  <a:pt x="7699391" y="0"/>
                </a:lnTo>
                <a:lnTo>
                  <a:pt x="7699391" y="6024774"/>
                </a:lnTo>
                <a:lnTo>
                  <a:pt x="0" y="602477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grpSp>
        <p:nvGrpSpPr>
          <p:cNvPr id="4" name="Group 4"/>
          <p:cNvGrpSpPr/>
          <p:nvPr/>
        </p:nvGrpSpPr>
        <p:grpSpPr>
          <a:xfrm rot="5400000">
            <a:off x="8174549" y="-6830526"/>
            <a:ext cx="1938902" cy="14453488"/>
            <a:chOff x="0" y="0"/>
            <a:chExt cx="510657" cy="3806680"/>
          </a:xfrm>
        </p:grpSpPr>
        <p:sp>
          <p:nvSpPr>
            <p:cNvPr id="5" name="Freeform 5"/>
            <p:cNvSpPr/>
            <p:nvPr/>
          </p:nvSpPr>
          <p:spPr>
            <a:xfrm>
              <a:off x="0" y="0"/>
              <a:ext cx="510657" cy="3806680"/>
            </a:xfrm>
            <a:custGeom>
              <a:avLst/>
              <a:gdLst/>
              <a:ahLst/>
              <a:cxnLst/>
              <a:rect l="l" t="t" r="r" b="b"/>
              <a:pathLst>
                <a:path w="510657" h="3806680">
                  <a:moveTo>
                    <a:pt x="203640" y="0"/>
                  </a:moveTo>
                  <a:lnTo>
                    <a:pt x="307017" y="0"/>
                  </a:lnTo>
                  <a:cubicBezTo>
                    <a:pt x="361026" y="0"/>
                    <a:pt x="412823" y="21455"/>
                    <a:pt x="451013" y="59645"/>
                  </a:cubicBezTo>
                  <a:cubicBezTo>
                    <a:pt x="489203" y="97835"/>
                    <a:pt x="510657" y="149631"/>
                    <a:pt x="510657" y="203640"/>
                  </a:cubicBezTo>
                  <a:lnTo>
                    <a:pt x="510657" y="3603040"/>
                  </a:lnTo>
                  <a:cubicBezTo>
                    <a:pt x="510657" y="3657049"/>
                    <a:pt x="489203" y="3708845"/>
                    <a:pt x="451013" y="3747035"/>
                  </a:cubicBezTo>
                  <a:cubicBezTo>
                    <a:pt x="412823" y="3785225"/>
                    <a:pt x="361026" y="3806680"/>
                    <a:pt x="307017" y="3806680"/>
                  </a:cubicBezTo>
                  <a:lnTo>
                    <a:pt x="203640" y="3806680"/>
                  </a:lnTo>
                  <a:cubicBezTo>
                    <a:pt x="149631" y="3806680"/>
                    <a:pt x="97835" y="3785225"/>
                    <a:pt x="59645" y="3747035"/>
                  </a:cubicBezTo>
                  <a:cubicBezTo>
                    <a:pt x="21455" y="3708845"/>
                    <a:pt x="0" y="3657049"/>
                    <a:pt x="0" y="3603040"/>
                  </a:cubicBezTo>
                  <a:lnTo>
                    <a:pt x="0" y="203640"/>
                  </a:lnTo>
                  <a:cubicBezTo>
                    <a:pt x="0" y="149631"/>
                    <a:pt x="21455" y="97835"/>
                    <a:pt x="59645" y="59645"/>
                  </a:cubicBezTo>
                  <a:cubicBezTo>
                    <a:pt x="97835" y="21455"/>
                    <a:pt x="149631" y="0"/>
                    <a:pt x="203640" y="0"/>
                  </a:cubicBezTo>
                  <a:close/>
                </a:path>
              </a:pathLst>
            </a:custGeom>
            <a:solidFill>
              <a:srgbClr val="004AAD"/>
            </a:solidFill>
          </p:spPr>
          <p:txBody>
            <a:bodyPr/>
            <a:lstStyle/>
            <a:p>
              <a:endParaRPr lang="ar-EG"/>
            </a:p>
          </p:txBody>
        </p:sp>
        <p:sp>
          <p:nvSpPr>
            <p:cNvPr id="6" name="TextBox 6"/>
            <p:cNvSpPr txBox="1"/>
            <p:nvPr/>
          </p:nvSpPr>
          <p:spPr>
            <a:xfrm>
              <a:off x="0" y="-47625"/>
              <a:ext cx="510657" cy="385430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539261" y="100892"/>
            <a:ext cx="11209478" cy="1057198"/>
          </a:xfrm>
          <a:prstGeom prst="rect">
            <a:avLst/>
          </a:prstGeom>
        </p:spPr>
        <p:txBody>
          <a:bodyPr lIns="0" tIns="0" rIns="0" bIns="0" rtlCol="0" anchor="t">
            <a:spAutoFit/>
          </a:bodyPr>
          <a:lstStyle/>
          <a:p>
            <a:pPr algn="ctr">
              <a:lnSpc>
                <a:spcPts val="4200"/>
              </a:lnSpc>
            </a:pPr>
            <a:r>
              <a:rPr lang="en-US" sz="3000">
                <a:solidFill>
                  <a:srgbClr val="FFFFFF"/>
                </a:solidFill>
                <a:latin typeface="Archivo Black"/>
                <a:ea typeface="Archivo Black"/>
                <a:cs typeface="Archivo Black"/>
                <a:sym typeface="Archivo Black"/>
              </a:rPr>
              <a:t>Confusion Matric &amp; Classification Report </a:t>
            </a:r>
          </a:p>
          <a:p>
            <a:pPr algn="ctr">
              <a:lnSpc>
                <a:spcPts val="4200"/>
              </a:lnSpc>
              <a:spcBef>
                <a:spcPct val="0"/>
              </a:spcBef>
            </a:pPr>
            <a:r>
              <a:rPr lang="en-US" sz="3000">
                <a:solidFill>
                  <a:srgbClr val="FFFFFF"/>
                </a:solidFill>
                <a:latin typeface="Archivo Black"/>
                <a:ea typeface="Archivo Black"/>
                <a:cs typeface="Archivo Black"/>
                <a:sym typeface="Archivo Black"/>
              </a:rPr>
              <a:t>(CatBoost)</a:t>
            </a:r>
          </a:p>
        </p:txBody>
      </p:sp>
      <p:grpSp>
        <p:nvGrpSpPr>
          <p:cNvPr id="8" name="Group 8"/>
          <p:cNvGrpSpPr/>
          <p:nvPr/>
        </p:nvGrpSpPr>
        <p:grpSpPr>
          <a:xfrm rot="5400000">
            <a:off x="8329191" y="2563101"/>
            <a:ext cx="1629618" cy="14453488"/>
            <a:chOff x="0" y="0"/>
            <a:chExt cx="429200" cy="3806680"/>
          </a:xfrm>
        </p:grpSpPr>
        <p:sp>
          <p:nvSpPr>
            <p:cNvPr id="9" name="Freeform 9"/>
            <p:cNvSpPr/>
            <p:nvPr/>
          </p:nvSpPr>
          <p:spPr>
            <a:xfrm>
              <a:off x="0" y="0"/>
              <a:ext cx="429200" cy="3806680"/>
            </a:xfrm>
            <a:custGeom>
              <a:avLst/>
              <a:gdLst/>
              <a:ahLst/>
              <a:cxnLst/>
              <a:rect l="l" t="t" r="r" b="b"/>
              <a:pathLst>
                <a:path w="429200" h="3806680">
                  <a:moveTo>
                    <a:pt x="214600" y="0"/>
                  </a:moveTo>
                  <a:lnTo>
                    <a:pt x="214600" y="0"/>
                  </a:lnTo>
                  <a:cubicBezTo>
                    <a:pt x="333120" y="0"/>
                    <a:pt x="429200" y="96080"/>
                    <a:pt x="429200" y="214600"/>
                  </a:cubicBezTo>
                  <a:lnTo>
                    <a:pt x="429200" y="3592080"/>
                  </a:lnTo>
                  <a:cubicBezTo>
                    <a:pt x="429200" y="3710600"/>
                    <a:pt x="333120" y="3806680"/>
                    <a:pt x="214600" y="3806680"/>
                  </a:cubicBezTo>
                  <a:lnTo>
                    <a:pt x="214600" y="3806680"/>
                  </a:lnTo>
                  <a:cubicBezTo>
                    <a:pt x="96080" y="3806680"/>
                    <a:pt x="0" y="3710600"/>
                    <a:pt x="0" y="3592080"/>
                  </a:cubicBezTo>
                  <a:lnTo>
                    <a:pt x="0" y="214600"/>
                  </a:lnTo>
                  <a:cubicBezTo>
                    <a:pt x="0" y="96080"/>
                    <a:pt x="96080" y="0"/>
                    <a:pt x="214600" y="0"/>
                  </a:cubicBezTo>
                  <a:close/>
                </a:path>
              </a:pathLst>
            </a:custGeom>
            <a:solidFill>
              <a:srgbClr val="004AAD"/>
            </a:solidFill>
          </p:spPr>
          <p:txBody>
            <a:bodyPr/>
            <a:lstStyle/>
            <a:p>
              <a:endParaRPr lang="ar-EG"/>
            </a:p>
          </p:txBody>
        </p:sp>
        <p:sp>
          <p:nvSpPr>
            <p:cNvPr id="10" name="TextBox 10"/>
            <p:cNvSpPr txBox="1"/>
            <p:nvPr/>
          </p:nvSpPr>
          <p:spPr>
            <a:xfrm>
              <a:off x="0" y="-47625"/>
              <a:ext cx="429200"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077877"/>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5396806"/>
            <a:ext cx="11644372" cy="1235392"/>
          </a:xfrm>
          <a:prstGeom prst="rect">
            <a:avLst/>
          </a:prstGeom>
        </p:spPr>
        <p:txBody>
          <a:bodyPr lIns="0" tIns="0" rIns="0" bIns="0" rtlCol="0" anchor="t">
            <a:spAutoFit/>
          </a:bodyPr>
          <a:lstStyle/>
          <a:p>
            <a:pPr algn="ctr">
              <a:lnSpc>
                <a:spcPts val="10132"/>
              </a:lnSpc>
            </a:pPr>
            <a:r>
              <a:rPr lang="en-US" sz="7237">
                <a:solidFill>
                  <a:srgbClr val="FFFFFF"/>
                </a:solidFill>
                <a:latin typeface="League Spartan"/>
                <a:ea typeface="League Spartan"/>
                <a:cs typeface="League Spartan"/>
                <a:sym typeface="League Spartan"/>
              </a:rPr>
              <a:t>DEPLOYMENT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66355" y="1754673"/>
            <a:ext cx="12765396" cy="6781617"/>
          </a:xfrm>
          <a:custGeom>
            <a:avLst/>
            <a:gdLst/>
            <a:ahLst/>
            <a:cxnLst/>
            <a:rect l="l" t="t" r="r" b="b"/>
            <a:pathLst>
              <a:path w="12765396" h="6781617">
                <a:moveTo>
                  <a:pt x="0" y="0"/>
                </a:moveTo>
                <a:lnTo>
                  <a:pt x="12765396" y="0"/>
                </a:lnTo>
                <a:lnTo>
                  <a:pt x="12765396" y="6781616"/>
                </a:lnTo>
                <a:lnTo>
                  <a:pt x="0" y="6781616"/>
                </a:lnTo>
                <a:lnTo>
                  <a:pt x="0" y="0"/>
                </a:lnTo>
                <a:close/>
              </a:path>
            </a:pathLst>
          </a:custGeom>
          <a:blipFill>
            <a:blip r:embed="rId2"/>
            <a:stretch>
              <a:fillRect/>
            </a:stretch>
          </a:blipFill>
          <a:ln w="38100" cap="rnd">
            <a:solidFill>
              <a:srgbClr val="000000"/>
            </a:solidFill>
            <a:prstDash val="solid"/>
            <a:round/>
          </a:ln>
        </p:spPr>
        <p:txBody>
          <a:bodyPr/>
          <a:lstStyle/>
          <a:p>
            <a:endParaRPr lang="ar-EG"/>
          </a:p>
        </p:txBody>
      </p:sp>
      <p:sp>
        <p:nvSpPr>
          <p:cNvPr id="3" name="Freeform 3"/>
          <p:cNvSpPr/>
          <p:nvPr/>
        </p:nvSpPr>
        <p:spPr>
          <a:xfrm>
            <a:off x="456249" y="1754673"/>
            <a:ext cx="4610106" cy="6781617"/>
          </a:xfrm>
          <a:custGeom>
            <a:avLst/>
            <a:gdLst/>
            <a:ahLst/>
            <a:cxnLst/>
            <a:rect l="l" t="t" r="r" b="b"/>
            <a:pathLst>
              <a:path w="4610106" h="6781617">
                <a:moveTo>
                  <a:pt x="0" y="0"/>
                </a:moveTo>
                <a:lnTo>
                  <a:pt x="4610106" y="0"/>
                </a:lnTo>
                <a:lnTo>
                  <a:pt x="4610106" y="6781616"/>
                </a:lnTo>
                <a:lnTo>
                  <a:pt x="0" y="6781616"/>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grpSp>
        <p:nvGrpSpPr>
          <p:cNvPr id="4" name="Group 4"/>
          <p:cNvGrpSpPr/>
          <p:nvPr/>
        </p:nvGrpSpPr>
        <p:grpSpPr>
          <a:xfrm>
            <a:off x="18048762" y="1910171"/>
            <a:ext cx="1601933" cy="6466659"/>
            <a:chOff x="0" y="0"/>
            <a:chExt cx="421908" cy="1703153"/>
          </a:xfrm>
        </p:grpSpPr>
        <p:sp>
          <p:nvSpPr>
            <p:cNvPr id="5" name="Freeform 5"/>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6" name="TextBox 6"/>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8343034" y="-6999011"/>
            <a:ext cx="1601933" cy="14453488"/>
            <a:chOff x="0" y="0"/>
            <a:chExt cx="421908" cy="3806680"/>
          </a:xfrm>
        </p:grpSpPr>
        <p:sp>
          <p:nvSpPr>
            <p:cNvPr id="8" name="Freeform 8"/>
            <p:cNvSpPr/>
            <p:nvPr/>
          </p:nvSpPr>
          <p:spPr>
            <a:xfrm>
              <a:off x="0" y="0"/>
              <a:ext cx="421908" cy="3806680"/>
            </a:xfrm>
            <a:custGeom>
              <a:avLst/>
              <a:gdLst/>
              <a:ahLst/>
              <a:cxnLst/>
              <a:rect l="l" t="t" r="r" b="b"/>
              <a:pathLst>
                <a:path w="421908" h="3806680">
                  <a:moveTo>
                    <a:pt x="210954" y="0"/>
                  </a:moveTo>
                  <a:lnTo>
                    <a:pt x="210954" y="0"/>
                  </a:lnTo>
                  <a:cubicBezTo>
                    <a:pt x="266903" y="0"/>
                    <a:pt x="320560" y="22225"/>
                    <a:pt x="360121" y="61787"/>
                  </a:cubicBezTo>
                  <a:cubicBezTo>
                    <a:pt x="399683" y="101349"/>
                    <a:pt x="421908" y="155006"/>
                    <a:pt x="421908" y="210954"/>
                  </a:cubicBezTo>
                  <a:lnTo>
                    <a:pt x="421908" y="3595726"/>
                  </a:lnTo>
                  <a:cubicBezTo>
                    <a:pt x="421908" y="3651674"/>
                    <a:pt x="399683" y="3705332"/>
                    <a:pt x="360121" y="3744893"/>
                  </a:cubicBezTo>
                  <a:cubicBezTo>
                    <a:pt x="320560" y="3784455"/>
                    <a:pt x="266903" y="3806680"/>
                    <a:pt x="210954" y="3806680"/>
                  </a:cubicBezTo>
                  <a:lnTo>
                    <a:pt x="210954" y="3806680"/>
                  </a:lnTo>
                  <a:cubicBezTo>
                    <a:pt x="155006" y="3806680"/>
                    <a:pt x="101349" y="3784455"/>
                    <a:pt x="61787" y="3744893"/>
                  </a:cubicBezTo>
                  <a:cubicBezTo>
                    <a:pt x="22225" y="3705332"/>
                    <a:pt x="0" y="3651674"/>
                    <a:pt x="0" y="3595726"/>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9" name="TextBox 9"/>
            <p:cNvSpPr txBox="1"/>
            <p:nvPr/>
          </p:nvSpPr>
          <p:spPr>
            <a:xfrm>
              <a:off x="0" y="-47625"/>
              <a:ext cx="421908" cy="385430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385916" y="1910171"/>
            <a:ext cx="1601933" cy="6466659"/>
            <a:chOff x="0" y="0"/>
            <a:chExt cx="421908" cy="1703153"/>
          </a:xfrm>
        </p:grpSpPr>
        <p:sp>
          <p:nvSpPr>
            <p:cNvPr id="11" name="Freeform 11"/>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2" name="TextBox 12"/>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5400000">
            <a:off x="8470823" y="2704733"/>
            <a:ext cx="1346354" cy="14453488"/>
            <a:chOff x="0" y="0"/>
            <a:chExt cx="354595" cy="3806680"/>
          </a:xfrm>
        </p:grpSpPr>
        <p:sp>
          <p:nvSpPr>
            <p:cNvPr id="14" name="Freeform 14"/>
            <p:cNvSpPr/>
            <p:nvPr/>
          </p:nvSpPr>
          <p:spPr>
            <a:xfrm>
              <a:off x="0" y="0"/>
              <a:ext cx="354595" cy="3806680"/>
            </a:xfrm>
            <a:custGeom>
              <a:avLst/>
              <a:gdLst/>
              <a:ahLst/>
              <a:cxnLst/>
              <a:rect l="l" t="t" r="r" b="b"/>
              <a:pathLst>
                <a:path w="354595" h="3806680">
                  <a:moveTo>
                    <a:pt x="177298" y="0"/>
                  </a:moveTo>
                  <a:lnTo>
                    <a:pt x="177298" y="0"/>
                  </a:lnTo>
                  <a:cubicBezTo>
                    <a:pt x="275216" y="0"/>
                    <a:pt x="354595" y="79379"/>
                    <a:pt x="354595" y="177298"/>
                  </a:cubicBezTo>
                  <a:lnTo>
                    <a:pt x="354595" y="3629382"/>
                  </a:lnTo>
                  <a:cubicBezTo>
                    <a:pt x="354595" y="3676405"/>
                    <a:pt x="335916" y="3721501"/>
                    <a:pt x="302666" y="3754751"/>
                  </a:cubicBezTo>
                  <a:cubicBezTo>
                    <a:pt x="269416" y="3788001"/>
                    <a:pt x="224320" y="3806680"/>
                    <a:pt x="177298" y="3806680"/>
                  </a:cubicBezTo>
                  <a:lnTo>
                    <a:pt x="177298" y="3806680"/>
                  </a:lnTo>
                  <a:cubicBezTo>
                    <a:pt x="130275" y="3806680"/>
                    <a:pt x="85179" y="3788001"/>
                    <a:pt x="51929" y="3754751"/>
                  </a:cubicBezTo>
                  <a:cubicBezTo>
                    <a:pt x="18680" y="3721501"/>
                    <a:pt x="0" y="3676405"/>
                    <a:pt x="0" y="3629382"/>
                  </a:cubicBezTo>
                  <a:lnTo>
                    <a:pt x="0" y="177298"/>
                  </a:lnTo>
                  <a:cubicBezTo>
                    <a:pt x="0" y="130275"/>
                    <a:pt x="18680" y="85179"/>
                    <a:pt x="51929" y="51929"/>
                  </a:cubicBezTo>
                  <a:cubicBezTo>
                    <a:pt x="85179" y="18680"/>
                    <a:pt x="130275" y="0"/>
                    <a:pt x="177298" y="0"/>
                  </a:cubicBezTo>
                  <a:close/>
                </a:path>
              </a:pathLst>
            </a:custGeom>
            <a:solidFill>
              <a:srgbClr val="004AAD"/>
            </a:solidFill>
          </p:spPr>
          <p:txBody>
            <a:bodyPr/>
            <a:lstStyle/>
            <a:p>
              <a:endParaRPr lang="ar-EG"/>
            </a:p>
          </p:txBody>
        </p:sp>
        <p:sp>
          <p:nvSpPr>
            <p:cNvPr id="15" name="TextBox 15"/>
            <p:cNvSpPr txBox="1"/>
            <p:nvPr/>
          </p:nvSpPr>
          <p:spPr>
            <a:xfrm>
              <a:off x="0" y="-47625"/>
              <a:ext cx="354595"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5676" y="950231"/>
            <a:ext cx="13636649" cy="3681895"/>
          </a:xfrm>
          <a:custGeom>
            <a:avLst/>
            <a:gdLst/>
            <a:ahLst/>
            <a:cxnLst/>
            <a:rect l="l" t="t" r="r" b="b"/>
            <a:pathLst>
              <a:path w="13636649" h="3681895">
                <a:moveTo>
                  <a:pt x="0" y="0"/>
                </a:moveTo>
                <a:lnTo>
                  <a:pt x="13636648" y="0"/>
                </a:lnTo>
                <a:lnTo>
                  <a:pt x="13636648" y="3681895"/>
                </a:lnTo>
                <a:lnTo>
                  <a:pt x="0" y="3681895"/>
                </a:lnTo>
                <a:lnTo>
                  <a:pt x="0" y="0"/>
                </a:lnTo>
                <a:close/>
              </a:path>
            </a:pathLst>
          </a:custGeom>
          <a:blipFill>
            <a:blip r:embed="rId2"/>
            <a:stretch>
              <a:fillRect/>
            </a:stretch>
          </a:blipFill>
          <a:ln w="38100" cap="rnd">
            <a:solidFill>
              <a:srgbClr val="000000"/>
            </a:solidFill>
            <a:prstDash val="solid"/>
            <a:round/>
          </a:ln>
        </p:spPr>
        <p:txBody>
          <a:bodyPr/>
          <a:lstStyle/>
          <a:p>
            <a:endParaRPr lang="ar-EG"/>
          </a:p>
        </p:txBody>
      </p:sp>
      <p:sp>
        <p:nvSpPr>
          <p:cNvPr id="3" name="Freeform 3"/>
          <p:cNvSpPr/>
          <p:nvPr/>
        </p:nvSpPr>
        <p:spPr>
          <a:xfrm>
            <a:off x="2325676" y="4632126"/>
            <a:ext cx="13636649" cy="4704644"/>
          </a:xfrm>
          <a:custGeom>
            <a:avLst/>
            <a:gdLst/>
            <a:ahLst/>
            <a:cxnLst/>
            <a:rect l="l" t="t" r="r" b="b"/>
            <a:pathLst>
              <a:path w="13636649" h="4704644">
                <a:moveTo>
                  <a:pt x="0" y="0"/>
                </a:moveTo>
                <a:lnTo>
                  <a:pt x="13636648" y="0"/>
                </a:lnTo>
                <a:lnTo>
                  <a:pt x="13636648" y="4704643"/>
                </a:lnTo>
                <a:lnTo>
                  <a:pt x="0" y="4704643"/>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grpSp>
        <p:nvGrpSpPr>
          <p:cNvPr id="4" name="Group 4"/>
          <p:cNvGrpSpPr/>
          <p:nvPr/>
        </p:nvGrpSpPr>
        <p:grpSpPr>
          <a:xfrm>
            <a:off x="16600499" y="1910171"/>
            <a:ext cx="3050195" cy="6466659"/>
            <a:chOff x="0" y="0"/>
            <a:chExt cx="803344" cy="1703153"/>
          </a:xfrm>
        </p:grpSpPr>
        <p:sp>
          <p:nvSpPr>
            <p:cNvPr id="5" name="Freeform 5"/>
            <p:cNvSpPr/>
            <p:nvPr/>
          </p:nvSpPr>
          <p:spPr>
            <a:xfrm>
              <a:off x="0" y="0"/>
              <a:ext cx="803344" cy="1703153"/>
            </a:xfrm>
            <a:custGeom>
              <a:avLst/>
              <a:gdLst/>
              <a:ahLst/>
              <a:cxnLst/>
              <a:rect l="l" t="t" r="r" b="b"/>
              <a:pathLst>
                <a:path w="803344" h="1703153">
                  <a:moveTo>
                    <a:pt x="129447" y="0"/>
                  </a:moveTo>
                  <a:lnTo>
                    <a:pt x="673897" y="0"/>
                  </a:lnTo>
                  <a:cubicBezTo>
                    <a:pt x="708228" y="0"/>
                    <a:pt x="741154" y="13638"/>
                    <a:pt x="765430" y="37914"/>
                  </a:cubicBezTo>
                  <a:cubicBezTo>
                    <a:pt x="789706" y="62190"/>
                    <a:pt x="803344" y="95115"/>
                    <a:pt x="803344" y="129447"/>
                  </a:cubicBezTo>
                  <a:lnTo>
                    <a:pt x="803344" y="1573706"/>
                  </a:lnTo>
                  <a:cubicBezTo>
                    <a:pt x="803344" y="1608038"/>
                    <a:pt x="789706" y="1640963"/>
                    <a:pt x="765430" y="1665239"/>
                  </a:cubicBezTo>
                  <a:cubicBezTo>
                    <a:pt x="741154" y="1689515"/>
                    <a:pt x="708228" y="1703153"/>
                    <a:pt x="673897" y="1703153"/>
                  </a:cubicBezTo>
                  <a:lnTo>
                    <a:pt x="129447" y="1703153"/>
                  </a:lnTo>
                  <a:cubicBezTo>
                    <a:pt x="57955" y="1703153"/>
                    <a:pt x="0" y="1645198"/>
                    <a:pt x="0" y="1573706"/>
                  </a:cubicBezTo>
                  <a:lnTo>
                    <a:pt x="0" y="129447"/>
                  </a:lnTo>
                  <a:cubicBezTo>
                    <a:pt x="0" y="57955"/>
                    <a:pt x="57955" y="0"/>
                    <a:pt x="129447" y="0"/>
                  </a:cubicBezTo>
                  <a:close/>
                </a:path>
              </a:pathLst>
            </a:custGeom>
            <a:solidFill>
              <a:srgbClr val="004AAD"/>
            </a:solidFill>
          </p:spPr>
          <p:txBody>
            <a:bodyPr/>
            <a:lstStyle/>
            <a:p>
              <a:endParaRPr lang="ar-EG"/>
            </a:p>
          </p:txBody>
        </p:sp>
        <p:sp>
          <p:nvSpPr>
            <p:cNvPr id="6" name="TextBox 6"/>
            <p:cNvSpPr txBox="1"/>
            <p:nvPr/>
          </p:nvSpPr>
          <p:spPr>
            <a:xfrm>
              <a:off x="0" y="-47625"/>
              <a:ext cx="803344" cy="175077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8641209" y="-7297186"/>
            <a:ext cx="1005583" cy="14453488"/>
            <a:chOff x="0" y="0"/>
            <a:chExt cx="264845" cy="3806680"/>
          </a:xfrm>
        </p:grpSpPr>
        <p:sp>
          <p:nvSpPr>
            <p:cNvPr id="8" name="Freeform 8"/>
            <p:cNvSpPr/>
            <p:nvPr/>
          </p:nvSpPr>
          <p:spPr>
            <a:xfrm>
              <a:off x="0" y="0"/>
              <a:ext cx="264845" cy="3806680"/>
            </a:xfrm>
            <a:custGeom>
              <a:avLst/>
              <a:gdLst/>
              <a:ahLst/>
              <a:cxnLst/>
              <a:rect l="l" t="t" r="r" b="b"/>
              <a:pathLst>
                <a:path w="264845" h="3806680">
                  <a:moveTo>
                    <a:pt x="132422" y="0"/>
                  </a:moveTo>
                  <a:lnTo>
                    <a:pt x="132422" y="0"/>
                  </a:lnTo>
                  <a:cubicBezTo>
                    <a:pt x="205557" y="0"/>
                    <a:pt x="264845" y="59288"/>
                    <a:pt x="264845" y="132422"/>
                  </a:cubicBezTo>
                  <a:lnTo>
                    <a:pt x="264845" y="3674258"/>
                  </a:lnTo>
                  <a:cubicBezTo>
                    <a:pt x="264845" y="3747393"/>
                    <a:pt x="205557" y="3806680"/>
                    <a:pt x="132422" y="3806680"/>
                  </a:cubicBezTo>
                  <a:lnTo>
                    <a:pt x="132422" y="3806680"/>
                  </a:lnTo>
                  <a:cubicBezTo>
                    <a:pt x="59288" y="3806680"/>
                    <a:pt x="0" y="3747393"/>
                    <a:pt x="0" y="3674258"/>
                  </a:cubicBezTo>
                  <a:lnTo>
                    <a:pt x="0" y="132422"/>
                  </a:lnTo>
                  <a:cubicBezTo>
                    <a:pt x="0" y="59288"/>
                    <a:pt x="59288" y="0"/>
                    <a:pt x="132422" y="0"/>
                  </a:cubicBezTo>
                  <a:close/>
                </a:path>
              </a:pathLst>
            </a:custGeom>
            <a:solidFill>
              <a:srgbClr val="004AAD"/>
            </a:solidFill>
          </p:spPr>
          <p:txBody>
            <a:bodyPr/>
            <a:lstStyle/>
            <a:p>
              <a:endParaRPr lang="ar-EG"/>
            </a:p>
          </p:txBody>
        </p:sp>
        <p:sp>
          <p:nvSpPr>
            <p:cNvPr id="9" name="TextBox 9"/>
            <p:cNvSpPr txBox="1"/>
            <p:nvPr/>
          </p:nvSpPr>
          <p:spPr>
            <a:xfrm>
              <a:off x="0" y="-47625"/>
              <a:ext cx="264845" cy="385430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385916" y="1910171"/>
            <a:ext cx="3071509" cy="6466659"/>
            <a:chOff x="0" y="0"/>
            <a:chExt cx="808957" cy="1703153"/>
          </a:xfrm>
        </p:grpSpPr>
        <p:sp>
          <p:nvSpPr>
            <p:cNvPr id="11" name="Freeform 11"/>
            <p:cNvSpPr/>
            <p:nvPr/>
          </p:nvSpPr>
          <p:spPr>
            <a:xfrm>
              <a:off x="0" y="0"/>
              <a:ext cx="808957" cy="1703153"/>
            </a:xfrm>
            <a:custGeom>
              <a:avLst/>
              <a:gdLst/>
              <a:ahLst/>
              <a:cxnLst/>
              <a:rect l="l" t="t" r="r" b="b"/>
              <a:pathLst>
                <a:path w="808957" h="1703153">
                  <a:moveTo>
                    <a:pt x="128549" y="0"/>
                  </a:moveTo>
                  <a:lnTo>
                    <a:pt x="680409" y="0"/>
                  </a:lnTo>
                  <a:cubicBezTo>
                    <a:pt x="751404" y="0"/>
                    <a:pt x="808957" y="57553"/>
                    <a:pt x="808957" y="128549"/>
                  </a:cubicBezTo>
                  <a:lnTo>
                    <a:pt x="808957" y="1574605"/>
                  </a:lnTo>
                  <a:cubicBezTo>
                    <a:pt x="808957" y="1645600"/>
                    <a:pt x="751404" y="1703153"/>
                    <a:pt x="680409" y="1703153"/>
                  </a:cubicBezTo>
                  <a:lnTo>
                    <a:pt x="128549" y="1703153"/>
                  </a:lnTo>
                  <a:cubicBezTo>
                    <a:pt x="57553" y="1703153"/>
                    <a:pt x="0" y="1645600"/>
                    <a:pt x="0" y="1574605"/>
                  </a:cubicBezTo>
                  <a:lnTo>
                    <a:pt x="0" y="128549"/>
                  </a:lnTo>
                  <a:cubicBezTo>
                    <a:pt x="0" y="57553"/>
                    <a:pt x="57553" y="0"/>
                    <a:pt x="128549" y="0"/>
                  </a:cubicBezTo>
                  <a:close/>
                </a:path>
              </a:pathLst>
            </a:custGeom>
            <a:solidFill>
              <a:srgbClr val="004AAD"/>
            </a:solidFill>
          </p:spPr>
          <p:txBody>
            <a:bodyPr/>
            <a:lstStyle/>
            <a:p>
              <a:endParaRPr lang="ar-EG"/>
            </a:p>
          </p:txBody>
        </p:sp>
        <p:sp>
          <p:nvSpPr>
            <p:cNvPr id="12" name="TextBox 12"/>
            <p:cNvSpPr txBox="1"/>
            <p:nvPr/>
          </p:nvSpPr>
          <p:spPr>
            <a:xfrm>
              <a:off x="0" y="-47625"/>
              <a:ext cx="808957" cy="1750778"/>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5400000">
            <a:off x="8767233" y="3001143"/>
            <a:ext cx="753535" cy="14453488"/>
            <a:chOff x="0" y="0"/>
            <a:chExt cx="198462" cy="3806680"/>
          </a:xfrm>
        </p:grpSpPr>
        <p:sp>
          <p:nvSpPr>
            <p:cNvPr id="14" name="Freeform 14"/>
            <p:cNvSpPr/>
            <p:nvPr/>
          </p:nvSpPr>
          <p:spPr>
            <a:xfrm>
              <a:off x="0" y="0"/>
              <a:ext cx="198462" cy="3806680"/>
            </a:xfrm>
            <a:custGeom>
              <a:avLst/>
              <a:gdLst/>
              <a:ahLst/>
              <a:cxnLst/>
              <a:rect l="l" t="t" r="r" b="b"/>
              <a:pathLst>
                <a:path w="198462" h="3806680">
                  <a:moveTo>
                    <a:pt x="99231" y="0"/>
                  </a:moveTo>
                  <a:lnTo>
                    <a:pt x="99231" y="0"/>
                  </a:lnTo>
                  <a:cubicBezTo>
                    <a:pt x="125549" y="0"/>
                    <a:pt x="150788" y="10455"/>
                    <a:pt x="169398" y="29064"/>
                  </a:cubicBezTo>
                  <a:cubicBezTo>
                    <a:pt x="188007" y="47673"/>
                    <a:pt x="198462" y="72913"/>
                    <a:pt x="198462" y="99231"/>
                  </a:cubicBezTo>
                  <a:lnTo>
                    <a:pt x="198462" y="3707449"/>
                  </a:lnTo>
                  <a:cubicBezTo>
                    <a:pt x="198462" y="3733767"/>
                    <a:pt x="188007" y="3759007"/>
                    <a:pt x="169398" y="3777616"/>
                  </a:cubicBezTo>
                  <a:cubicBezTo>
                    <a:pt x="150788" y="3796225"/>
                    <a:pt x="125549" y="3806680"/>
                    <a:pt x="99231" y="3806680"/>
                  </a:cubicBezTo>
                  <a:lnTo>
                    <a:pt x="99231" y="3806680"/>
                  </a:lnTo>
                  <a:cubicBezTo>
                    <a:pt x="72913" y="3806680"/>
                    <a:pt x="47673" y="3796225"/>
                    <a:pt x="29064" y="3777616"/>
                  </a:cubicBezTo>
                  <a:cubicBezTo>
                    <a:pt x="10455" y="3759007"/>
                    <a:pt x="0" y="3733767"/>
                    <a:pt x="0" y="3707449"/>
                  </a:cubicBezTo>
                  <a:lnTo>
                    <a:pt x="0" y="99231"/>
                  </a:lnTo>
                  <a:cubicBezTo>
                    <a:pt x="0" y="72913"/>
                    <a:pt x="10455" y="47673"/>
                    <a:pt x="29064" y="29064"/>
                  </a:cubicBezTo>
                  <a:cubicBezTo>
                    <a:pt x="47673" y="10455"/>
                    <a:pt x="72913" y="0"/>
                    <a:pt x="99231" y="0"/>
                  </a:cubicBezTo>
                  <a:close/>
                </a:path>
              </a:pathLst>
            </a:custGeom>
            <a:solidFill>
              <a:srgbClr val="004AAD"/>
            </a:solidFill>
          </p:spPr>
          <p:txBody>
            <a:bodyPr/>
            <a:lstStyle/>
            <a:p>
              <a:endParaRPr lang="ar-EG"/>
            </a:p>
          </p:txBody>
        </p:sp>
        <p:sp>
          <p:nvSpPr>
            <p:cNvPr id="15" name="TextBox 15"/>
            <p:cNvSpPr txBox="1"/>
            <p:nvPr/>
          </p:nvSpPr>
          <p:spPr>
            <a:xfrm>
              <a:off x="0" y="-47625"/>
              <a:ext cx="198462"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3049" y="1877970"/>
            <a:ext cx="13641902" cy="6531061"/>
          </a:xfrm>
          <a:custGeom>
            <a:avLst/>
            <a:gdLst/>
            <a:ahLst/>
            <a:cxnLst/>
            <a:rect l="l" t="t" r="r" b="b"/>
            <a:pathLst>
              <a:path w="13641902" h="6531061">
                <a:moveTo>
                  <a:pt x="0" y="0"/>
                </a:moveTo>
                <a:lnTo>
                  <a:pt x="13641902" y="0"/>
                </a:lnTo>
                <a:lnTo>
                  <a:pt x="13641902" y="6531060"/>
                </a:lnTo>
                <a:lnTo>
                  <a:pt x="0" y="653106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6600499" y="1910171"/>
            <a:ext cx="3050195" cy="6466659"/>
            <a:chOff x="0" y="0"/>
            <a:chExt cx="803344" cy="1703153"/>
          </a:xfrm>
        </p:grpSpPr>
        <p:sp>
          <p:nvSpPr>
            <p:cNvPr id="4" name="Freeform 4"/>
            <p:cNvSpPr/>
            <p:nvPr/>
          </p:nvSpPr>
          <p:spPr>
            <a:xfrm>
              <a:off x="0" y="0"/>
              <a:ext cx="803344" cy="1703153"/>
            </a:xfrm>
            <a:custGeom>
              <a:avLst/>
              <a:gdLst/>
              <a:ahLst/>
              <a:cxnLst/>
              <a:rect l="l" t="t" r="r" b="b"/>
              <a:pathLst>
                <a:path w="803344" h="1703153">
                  <a:moveTo>
                    <a:pt x="129447" y="0"/>
                  </a:moveTo>
                  <a:lnTo>
                    <a:pt x="673897" y="0"/>
                  </a:lnTo>
                  <a:cubicBezTo>
                    <a:pt x="708228" y="0"/>
                    <a:pt x="741154" y="13638"/>
                    <a:pt x="765430" y="37914"/>
                  </a:cubicBezTo>
                  <a:cubicBezTo>
                    <a:pt x="789706" y="62190"/>
                    <a:pt x="803344" y="95115"/>
                    <a:pt x="803344" y="129447"/>
                  </a:cubicBezTo>
                  <a:lnTo>
                    <a:pt x="803344" y="1573706"/>
                  </a:lnTo>
                  <a:cubicBezTo>
                    <a:pt x="803344" y="1608038"/>
                    <a:pt x="789706" y="1640963"/>
                    <a:pt x="765430" y="1665239"/>
                  </a:cubicBezTo>
                  <a:cubicBezTo>
                    <a:pt x="741154" y="1689515"/>
                    <a:pt x="708228" y="1703153"/>
                    <a:pt x="673897" y="1703153"/>
                  </a:cubicBezTo>
                  <a:lnTo>
                    <a:pt x="129447" y="1703153"/>
                  </a:lnTo>
                  <a:cubicBezTo>
                    <a:pt x="57955" y="1703153"/>
                    <a:pt x="0" y="1645198"/>
                    <a:pt x="0" y="1573706"/>
                  </a:cubicBezTo>
                  <a:lnTo>
                    <a:pt x="0" y="129447"/>
                  </a:lnTo>
                  <a:cubicBezTo>
                    <a:pt x="0" y="57955"/>
                    <a:pt x="57955" y="0"/>
                    <a:pt x="129447" y="0"/>
                  </a:cubicBezTo>
                  <a:close/>
                </a:path>
              </a:pathLst>
            </a:custGeom>
            <a:solidFill>
              <a:srgbClr val="004AAD"/>
            </a:solidFill>
          </p:spPr>
          <p:txBody>
            <a:bodyPr/>
            <a:lstStyle/>
            <a:p>
              <a:endParaRPr lang="ar-EG"/>
            </a:p>
          </p:txBody>
        </p:sp>
        <p:sp>
          <p:nvSpPr>
            <p:cNvPr id="5" name="TextBox 5"/>
            <p:cNvSpPr txBox="1"/>
            <p:nvPr/>
          </p:nvSpPr>
          <p:spPr>
            <a:xfrm>
              <a:off x="0" y="-47625"/>
              <a:ext cx="803344" cy="175077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5916" y="1910171"/>
            <a:ext cx="3071509" cy="6466659"/>
            <a:chOff x="0" y="0"/>
            <a:chExt cx="808957" cy="1703153"/>
          </a:xfrm>
        </p:grpSpPr>
        <p:sp>
          <p:nvSpPr>
            <p:cNvPr id="7" name="Freeform 7"/>
            <p:cNvSpPr/>
            <p:nvPr/>
          </p:nvSpPr>
          <p:spPr>
            <a:xfrm>
              <a:off x="0" y="0"/>
              <a:ext cx="808957" cy="1703153"/>
            </a:xfrm>
            <a:custGeom>
              <a:avLst/>
              <a:gdLst/>
              <a:ahLst/>
              <a:cxnLst/>
              <a:rect l="l" t="t" r="r" b="b"/>
              <a:pathLst>
                <a:path w="808957" h="1703153">
                  <a:moveTo>
                    <a:pt x="128549" y="0"/>
                  </a:moveTo>
                  <a:lnTo>
                    <a:pt x="680409" y="0"/>
                  </a:lnTo>
                  <a:cubicBezTo>
                    <a:pt x="751404" y="0"/>
                    <a:pt x="808957" y="57553"/>
                    <a:pt x="808957" y="128549"/>
                  </a:cubicBezTo>
                  <a:lnTo>
                    <a:pt x="808957" y="1574605"/>
                  </a:lnTo>
                  <a:cubicBezTo>
                    <a:pt x="808957" y="1645600"/>
                    <a:pt x="751404" y="1703153"/>
                    <a:pt x="680409" y="1703153"/>
                  </a:cubicBezTo>
                  <a:lnTo>
                    <a:pt x="128549" y="1703153"/>
                  </a:lnTo>
                  <a:cubicBezTo>
                    <a:pt x="57553" y="1703153"/>
                    <a:pt x="0" y="1645600"/>
                    <a:pt x="0" y="1574605"/>
                  </a:cubicBezTo>
                  <a:lnTo>
                    <a:pt x="0" y="128549"/>
                  </a:lnTo>
                  <a:cubicBezTo>
                    <a:pt x="0" y="57553"/>
                    <a:pt x="57553" y="0"/>
                    <a:pt x="128549" y="0"/>
                  </a:cubicBezTo>
                  <a:close/>
                </a:path>
              </a:pathLst>
            </a:custGeom>
            <a:solidFill>
              <a:srgbClr val="004AAD"/>
            </a:solidFill>
          </p:spPr>
          <p:txBody>
            <a:bodyPr/>
            <a:lstStyle/>
            <a:p>
              <a:endParaRPr lang="ar-EG"/>
            </a:p>
          </p:txBody>
        </p:sp>
        <p:sp>
          <p:nvSpPr>
            <p:cNvPr id="8" name="TextBox 8"/>
            <p:cNvSpPr txBox="1"/>
            <p:nvPr/>
          </p:nvSpPr>
          <p:spPr>
            <a:xfrm>
              <a:off x="0" y="-47625"/>
              <a:ext cx="808957" cy="175077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8343034" y="-6999011"/>
            <a:ext cx="1601933" cy="14453488"/>
            <a:chOff x="0" y="0"/>
            <a:chExt cx="421908" cy="3806680"/>
          </a:xfrm>
        </p:grpSpPr>
        <p:sp>
          <p:nvSpPr>
            <p:cNvPr id="10" name="Freeform 10"/>
            <p:cNvSpPr/>
            <p:nvPr/>
          </p:nvSpPr>
          <p:spPr>
            <a:xfrm>
              <a:off x="0" y="0"/>
              <a:ext cx="421908" cy="3806680"/>
            </a:xfrm>
            <a:custGeom>
              <a:avLst/>
              <a:gdLst/>
              <a:ahLst/>
              <a:cxnLst/>
              <a:rect l="l" t="t" r="r" b="b"/>
              <a:pathLst>
                <a:path w="421908" h="3806680">
                  <a:moveTo>
                    <a:pt x="210954" y="0"/>
                  </a:moveTo>
                  <a:lnTo>
                    <a:pt x="210954" y="0"/>
                  </a:lnTo>
                  <a:cubicBezTo>
                    <a:pt x="266903" y="0"/>
                    <a:pt x="320560" y="22225"/>
                    <a:pt x="360121" y="61787"/>
                  </a:cubicBezTo>
                  <a:cubicBezTo>
                    <a:pt x="399683" y="101349"/>
                    <a:pt x="421908" y="155006"/>
                    <a:pt x="421908" y="210954"/>
                  </a:cubicBezTo>
                  <a:lnTo>
                    <a:pt x="421908" y="3595726"/>
                  </a:lnTo>
                  <a:cubicBezTo>
                    <a:pt x="421908" y="3651674"/>
                    <a:pt x="399683" y="3705332"/>
                    <a:pt x="360121" y="3744893"/>
                  </a:cubicBezTo>
                  <a:cubicBezTo>
                    <a:pt x="320560" y="3784455"/>
                    <a:pt x="266903" y="3806680"/>
                    <a:pt x="210954" y="3806680"/>
                  </a:cubicBezTo>
                  <a:lnTo>
                    <a:pt x="210954" y="3806680"/>
                  </a:lnTo>
                  <a:cubicBezTo>
                    <a:pt x="155006" y="3806680"/>
                    <a:pt x="101349" y="3784455"/>
                    <a:pt x="61787" y="3744893"/>
                  </a:cubicBezTo>
                  <a:cubicBezTo>
                    <a:pt x="22225" y="3705332"/>
                    <a:pt x="0" y="3651674"/>
                    <a:pt x="0" y="3595726"/>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1" name="TextBox 11"/>
            <p:cNvSpPr txBox="1"/>
            <p:nvPr/>
          </p:nvSpPr>
          <p:spPr>
            <a:xfrm>
              <a:off x="0" y="-47625"/>
              <a:ext cx="421908" cy="385430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5400000">
            <a:off x="8470823" y="2704733"/>
            <a:ext cx="1346354" cy="14453488"/>
            <a:chOff x="0" y="0"/>
            <a:chExt cx="354595" cy="3806680"/>
          </a:xfrm>
        </p:grpSpPr>
        <p:sp>
          <p:nvSpPr>
            <p:cNvPr id="13" name="Freeform 13"/>
            <p:cNvSpPr/>
            <p:nvPr/>
          </p:nvSpPr>
          <p:spPr>
            <a:xfrm>
              <a:off x="0" y="0"/>
              <a:ext cx="354595" cy="3806680"/>
            </a:xfrm>
            <a:custGeom>
              <a:avLst/>
              <a:gdLst/>
              <a:ahLst/>
              <a:cxnLst/>
              <a:rect l="l" t="t" r="r" b="b"/>
              <a:pathLst>
                <a:path w="354595" h="3806680">
                  <a:moveTo>
                    <a:pt x="177298" y="0"/>
                  </a:moveTo>
                  <a:lnTo>
                    <a:pt x="177298" y="0"/>
                  </a:lnTo>
                  <a:cubicBezTo>
                    <a:pt x="275216" y="0"/>
                    <a:pt x="354595" y="79379"/>
                    <a:pt x="354595" y="177298"/>
                  </a:cubicBezTo>
                  <a:lnTo>
                    <a:pt x="354595" y="3629382"/>
                  </a:lnTo>
                  <a:cubicBezTo>
                    <a:pt x="354595" y="3676405"/>
                    <a:pt x="335916" y="3721501"/>
                    <a:pt x="302666" y="3754751"/>
                  </a:cubicBezTo>
                  <a:cubicBezTo>
                    <a:pt x="269416" y="3788001"/>
                    <a:pt x="224320" y="3806680"/>
                    <a:pt x="177298" y="3806680"/>
                  </a:cubicBezTo>
                  <a:lnTo>
                    <a:pt x="177298" y="3806680"/>
                  </a:lnTo>
                  <a:cubicBezTo>
                    <a:pt x="130275" y="3806680"/>
                    <a:pt x="85179" y="3788001"/>
                    <a:pt x="51929" y="3754751"/>
                  </a:cubicBezTo>
                  <a:cubicBezTo>
                    <a:pt x="18680" y="3721501"/>
                    <a:pt x="0" y="3676405"/>
                    <a:pt x="0" y="3629382"/>
                  </a:cubicBezTo>
                  <a:lnTo>
                    <a:pt x="0" y="177298"/>
                  </a:lnTo>
                  <a:cubicBezTo>
                    <a:pt x="0" y="130275"/>
                    <a:pt x="18680" y="85179"/>
                    <a:pt x="51929" y="51929"/>
                  </a:cubicBezTo>
                  <a:cubicBezTo>
                    <a:pt x="85179" y="18680"/>
                    <a:pt x="130275" y="0"/>
                    <a:pt x="177298" y="0"/>
                  </a:cubicBezTo>
                  <a:close/>
                </a:path>
              </a:pathLst>
            </a:custGeom>
            <a:solidFill>
              <a:srgbClr val="004AAD"/>
            </a:solidFill>
          </p:spPr>
          <p:txBody>
            <a:bodyPr/>
            <a:lstStyle/>
            <a:p>
              <a:endParaRPr lang="ar-EG"/>
            </a:p>
          </p:txBody>
        </p:sp>
        <p:sp>
          <p:nvSpPr>
            <p:cNvPr id="14" name="TextBox 14"/>
            <p:cNvSpPr txBox="1"/>
            <p:nvPr/>
          </p:nvSpPr>
          <p:spPr>
            <a:xfrm>
              <a:off x="0" y="-47625"/>
              <a:ext cx="354595"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718594" y="1614586"/>
            <a:ext cx="11407277" cy="8294559"/>
            <a:chOff x="0" y="0"/>
            <a:chExt cx="3228966" cy="2347874"/>
          </a:xfrm>
        </p:grpSpPr>
        <p:sp>
          <p:nvSpPr>
            <p:cNvPr id="4" name="Freeform 4"/>
            <p:cNvSpPr/>
            <p:nvPr/>
          </p:nvSpPr>
          <p:spPr>
            <a:xfrm>
              <a:off x="0" y="0"/>
              <a:ext cx="3228966" cy="2347875"/>
            </a:xfrm>
            <a:custGeom>
              <a:avLst/>
              <a:gdLst/>
              <a:ahLst/>
              <a:cxnLst/>
              <a:rect l="l" t="t" r="r" b="b"/>
              <a:pathLst>
                <a:path w="3228966" h="2347875">
                  <a:moveTo>
                    <a:pt x="34613" y="0"/>
                  </a:moveTo>
                  <a:lnTo>
                    <a:pt x="3194354" y="0"/>
                  </a:lnTo>
                  <a:cubicBezTo>
                    <a:pt x="3213470" y="0"/>
                    <a:pt x="3228966" y="15497"/>
                    <a:pt x="3228966" y="34613"/>
                  </a:cubicBezTo>
                  <a:lnTo>
                    <a:pt x="3228966" y="2313262"/>
                  </a:lnTo>
                  <a:cubicBezTo>
                    <a:pt x="3228966" y="2322442"/>
                    <a:pt x="3225320" y="2331245"/>
                    <a:pt x="3218829" y="2337737"/>
                  </a:cubicBezTo>
                  <a:cubicBezTo>
                    <a:pt x="3212337" y="2344228"/>
                    <a:pt x="3203534" y="2347875"/>
                    <a:pt x="3194354" y="2347875"/>
                  </a:cubicBezTo>
                  <a:lnTo>
                    <a:pt x="34613" y="2347875"/>
                  </a:lnTo>
                  <a:cubicBezTo>
                    <a:pt x="15497" y="2347875"/>
                    <a:pt x="0" y="2332378"/>
                    <a:pt x="0" y="2313262"/>
                  </a:cubicBezTo>
                  <a:lnTo>
                    <a:pt x="0" y="34613"/>
                  </a:lnTo>
                  <a:cubicBezTo>
                    <a:pt x="0" y="15497"/>
                    <a:pt x="15497" y="0"/>
                    <a:pt x="34613" y="0"/>
                  </a:cubicBezTo>
                  <a:close/>
                </a:path>
              </a:pathLst>
            </a:custGeom>
            <a:solidFill>
              <a:srgbClr val="004AAD"/>
            </a:solidFill>
          </p:spPr>
          <p:txBody>
            <a:bodyPr/>
            <a:lstStyle/>
            <a:p>
              <a:endParaRPr lang="ar-EG"/>
            </a:p>
          </p:txBody>
        </p:sp>
        <p:sp>
          <p:nvSpPr>
            <p:cNvPr id="5" name="TextBox 5"/>
            <p:cNvSpPr txBox="1"/>
            <p:nvPr/>
          </p:nvSpPr>
          <p:spPr>
            <a:xfrm>
              <a:off x="0" y="-47625"/>
              <a:ext cx="3228966" cy="239549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722103" y="273080"/>
            <a:ext cx="8843793"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LIBRARIES USED</a:t>
            </a:r>
          </a:p>
        </p:txBody>
      </p:sp>
      <p:grpSp>
        <p:nvGrpSpPr>
          <p:cNvPr id="7" name="Group 7"/>
          <p:cNvGrpSpPr/>
          <p:nvPr/>
        </p:nvGrpSpPr>
        <p:grpSpPr>
          <a:xfrm>
            <a:off x="3162129" y="1905231"/>
            <a:ext cx="1112929" cy="111292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230465" y="2085856"/>
            <a:ext cx="976257" cy="790784"/>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1</a:t>
            </a:r>
          </a:p>
        </p:txBody>
      </p:sp>
      <p:sp>
        <p:nvSpPr>
          <p:cNvPr id="11" name="TextBox 11"/>
          <p:cNvSpPr txBox="1"/>
          <p:nvPr/>
        </p:nvSpPr>
        <p:spPr>
          <a:xfrm>
            <a:off x="4625117" y="1823788"/>
            <a:ext cx="4813309"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Pandas</a:t>
            </a:r>
          </a:p>
        </p:txBody>
      </p:sp>
      <p:grpSp>
        <p:nvGrpSpPr>
          <p:cNvPr id="12" name="Group 12"/>
          <p:cNvGrpSpPr/>
          <p:nvPr/>
        </p:nvGrpSpPr>
        <p:grpSpPr>
          <a:xfrm>
            <a:off x="3162129" y="3214737"/>
            <a:ext cx="1112929" cy="111292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3230465" y="3395362"/>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2</a:t>
            </a:r>
          </a:p>
        </p:txBody>
      </p:sp>
      <p:grpSp>
        <p:nvGrpSpPr>
          <p:cNvPr id="16" name="Group 16"/>
          <p:cNvGrpSpPr/>
          <p:nvPr/>
        </p:nvGrpSpPr>
        <p:grpSpPr>
          <a:xfrm>
            <a:off x="3162129" y="4522642"/>
            <a:ext cx="1112929" cy="11129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230465" y="470326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3</a:t>
            </a:r>
          </a:p>
        </p:txBody>
      </p:sp>
      <p:grpSp>
        <p:nvGrpSpPr>
          <p:cNvPr id="20" name="Group 20"/>
          <p:cNvGrpSpPr/>
          <p:nvPr/>
        </p:nvGrpSpPr>
        <p:grpSpPr>
          <a:xfrm>
            <a:off x="3162129" y="5830546"/>
            <a:ext cx="1112929" cy="111292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230465" y="601117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4</a:t>
            </a:r>
          </a:p>
        </p:txBody>
      </p:sp>
      <p:grpSp>
        <p:nvGrpSpPr>
          <p:cNvPr id="24" name="Group 24"/>
          <p:cNvGrpSpPr/>
          <p:nvPr/>
        </p:nvGrpSpPr>
        <p:grpSpPr>
          <a:xfrm>
            <a:off x="3162129" y="7138451"/>
            <a:ext cx="1112929" cy="111292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3230465" y="731907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5</a:t>
            </a:r>
          </a:p>
        </p:txBody>
      </p:sp>
      <p:grpSp>
        <p:nvGrpSpPr>
          <p:cNvPr id="28" name="Group 28"/>
          <p:cNvGrpSpPr/>
          <p:nvPr/>
        </p:nvGrpSpPr>
        <p:grpSpPr>
          <a:xfrm>
            <a:off x="3162129" y="8446356"/>
            <a:ext cx="1112929" cy="111292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230465" y="862698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6</a:t>
            </a:r>
          </a:p>
        </p:txBody>
      </p:sp>
      <p:sp>
        <p:nvSpPr>
          <p:cNvPr id="32" name="TextBox 32"/>
          <p:cNvSpPr txBox="1"/>
          <p:nvPr/>
        </p:nvSpPr>
        <p:spPr>
          <a:xfrm>
            <a:off x="4625117" y="3133294"/>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Numpy</a:t>
            </a:r>
          </a:p>
        </p:txBody>
      </p:sp>
      <p:sp>
        <p:nvSpPr>
          <p:cNvPr id="33" name="TextBox 33"/>
          <p:cNvSpPr txBox="1"/>
          <p:nvPr/>
        </p:nvSpPr>
        <p:spPr>
          <a:xfrm>
            <a:off x="4625117" y="4446100"/>
            <a:ext cx="10302585" cy="1040542"/>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Matplotlib &amp; Seaborn</a:t>
            </a:r>
          </a:p>
        </p:txBody>
      </p:sp>
      <p:sp>
        <p:nvSpPr>
          <p:cNvPr id="34" name="TextBox 34"/>
          <p:cNvSpPr txBox="1"/>
          <p:nvPr/>
        </p:nvSpPr>
        <p:spPr>
          <a:xfrm>
            <a:off x="4625117" y="5758906"/>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Plotly</a:t>
            </a:r>
          </a:p>
        </p:txBody>
      </p:sp>
      <p:sp>
        <p:nvSpPr>
          <p:cNvPr id="35" name="TextBox 35"/>
          <p:cNvSpPr txBox="1"/>
          <p:nvPr/>
        </p:nvSpPr>
        <p:spPr>
          <a:xfrm>
            <a:off x="4625117" y="7071712"/>
            <a:ext cx="7892943" cy="1040542"/>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Sklearn &amp; tensorflow</a:t>
            </a:r>
          </a:p>
        </p:txBody>
      </p:sp>
      <p:sp>
        <p:nvSpPr>
          <p:cNvPr id="36" name="TextBox 36"/>
          <p:cNvSpPr txBox="1"/>
          <p:nvPr/>
        </p:nvSpPr>
        <p:spPr>
          <a:xfrm>
            <a:off x="4625117" y="8384518"/>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joblib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028700" y="9258300"/>
            <a:ext cx="6859435" cy="196455"/>
            <a:chOff x="0" y="0"/>
            <a:chExt cx="1806600" cy="51741"/>
          </a:xfrm>
        </p:grpSpPr>
        <p:sp>
          <p:nvSpPr>
            <p:cNvPr id="4" name="Freeform 4"/>
            <p:cNvSpPr/>
            <p:nvPr/>
          </p:nvSpPr>
          <p:spPr>
            <a:xfrm>
              <a:off x="0" y="0"/>
              <a:ext cx="1806600" cy="51741"/>
            </a:xfrm>
            <a:custGeom>
              <a:avLst/>
              <a:gdLst/>
              <a:ahLst/>
              <a:cxnLst/>
              <a:rect l="l" t="t" r="r" b="b"/>
              <a:pathLst>
                <a:path w="1806600" h="51741">
                  <a:moveTo>
                    <a:pt x="0" y="0"/>
                  </a:moveTo>
                  <a:lnTo>
                    <a:pt x="1806600" y="0"/>
                  </a:lnTo>
                  <a:lnTo>
                    <a:pt x="1806600" y="51741"/>
                  </a:lnTo>
                  <a:lnTo>
                    <a:pt x="0" y="51741"/>
                  </a:lnTo>
                  <a:close/>
                </a:path>
              </a:pathLst>
            </a:custGeom>
            <a:solidFill>
              <a:srgbClr val="004AAD"/>
            </a:solidFill>
          </p:spPr>
          <p:txBody>
            <a:bodyPr/>
            <a:lstStyle/>
            <a:p>
              <a:endParaRPr lang="ar-EG"/>
            </a:p>
          </p:txBody>
        </p:sp>
        <p:sp>
          <p:nvSpPr>
            <p:cNvPr id="5" name="TextBox 5"/>
            <p:cNvSpPr txBox="1"/>
            <p:nvPr/>
          </p:nvSpPr>
          <p:spPr>
            <a:xfrm>
              <a:off x="0" y="-47625"/>
              <a:ext cx="1806600" cy="99366"/>
            </a:xfrm>
            <a:prstGeom prst="rect">
              <a:avLst/>
            </a:prstGeom>
          </p:spPr>
          <p:txBody>
            <a:bodyPr lIns="50800" tIns="50800" rIns="50800" bIns="50800" rtlCol="0" anchor="ctr"/>
            <a:lstStyle/>
            <a:p>
              <a:pPr algn="ctr">
                <a:lnSpc>
                  <a:spcPts val="2659"/>
                </a:lnSpc>
              </a:pPr>
              <a:endParaRPr/>
            </a:p>
          </p:txBody>
        </p:sp>
      </p:grpSp>
      <p:grpSp>
        <p:nvGrpSpPr>
          <p:cNvPr id="6" name="Group 6"/>
          <p:cNvGrpSpPr>
            <a:grpSpLocks noChangeAspect="1"/>
          </p:cNvGrpSpPr>
          <p:nvPr/>
        </p:nvGrpSpPr>
        <p:grpSpPr>
          <a:xfrm>
            <a:off x="7795260" y="301183"/>
            <a:ext cx="5246370" cy="5246370"/>
            <a:chOff x="0" y="0"/>
            <a:chExt cx="6350000" cy="6350000"/>
          </a:xfrm>
        </p:grpSpPr>
        <p:sp>
          <p:nvSpPr>
            <p:cNvPr id="7" name="Freeform 7"/>
            <p:cNvSpPr/>
            <p:nvPr/>
          </p:nvSpPr>
          <p:spPr>
            <a:xfrm>
              <a:off x="0" y="0"/>
              <a:ext cx="6350000" cy="6350000"/>
            </a:xfrm>
            <a:custGeom>
              <a:avLst/>
              <a:gdLst/>
              <a:ahLst/>
              <a:cxnLst/>
              <a:rect l="l" t="t" r="r" b="b"/>
              <a:pathLst>
                <a:path w="6350000" h="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04AAD"/>
            </a:solidFill>
          </p:spPr>
          <p:txBody>
            <a:bodyPr/>
            <a:lstStyle/>
            <a:p>
              <a:endParaRPr lang="ar-EG"/>
            </a:p>
          </p:txBody>
        </p:sp>
        <p:sp>
          <p:nvSpPr>
            <p:cNvPr id="8" name="Freeform 8"/>
            <p:cNvSpPr/>
            <p:nvPr/>
          </p:nvSpPr>
          <p:spPr>
            <a:xfrm>
              <a:off x="391160" y="364490"/>
              <a:ext cx="5619750" cy="5621020"/>
            </a:xfrm>
            <a:custGeom>
              <a:avLst/>
              <a:gdLst/>
              <a:ahLst/>
              <a:cxnLst/>
              <a:rect l="l" t="t" r="r" b="b"/>
              <a:pathLst>
                <a:path w="5619750" h="562102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3"/>
              <a:stretch>
                <a:fillRect t="-2950" b="-4717"/>
              </a:stretch>
            </a:blipFill>
          </p:spPr>
          <p:txBody>
            <a:bodyPr/>
            <a:lstStyle/>
            <a:p>
              <a:endParaRPr lang="ar-EG"/>
            </a:p>
          </p:txBody>
        </p:sp>
      </p:grpSp>
      <p:grpSp>
        <p:nvGrpSpPr>
          <p:cNvPr id="9" name="Group 9"/>
          <p:cNvGrpSpPr>
            <a:grpSpLocks noChangeAspect="1"/>
          </p:cNvGrpSpPr>
          <p:nvPr/>
        </p:nvGrpSpPr>
        <p:grpSpPr>
          <a:xfrm>
            <a:off x="13041630" y="4610930"/>
            <a:ext cx="5246370" cy="5246370"/>
            <a:chOff x="0" y="0"/>
            <a:chExt cx="6350000" cy="6350000"/>
          </a:xfrm>
        </p:grpSpPr>
        <p:sp>
          <p:nvSpPr>
            <p:cNvPr id="10" name="Freeform 10"/>
            <p:cNvSpPr/>
            <p:nvPr/>
          </p:nvSpPr>
          <p:spPr>
            <a:xfrm>
              <a:off x="0" y="0"/>
              <a:ext cx="6350000" cy="6350000"/>
            </a:xfrm>
            <a:custGeom>
              <a:avLst/>
              <a:gdLst/>
              <a:ahLst/>
              <a:cxnLst/>
              <a:rect l="l" t="t" r="r" b="b"/>
              <a:pathLst>
                <a:path w="6350000" h="6350000">
                  <a:moveTo>
                    <a:pt x="6350000" y="3175000"/>
                  </a:moveTo>
                  <a:cubicBezTo>
                    <a:pt x="6350000" y="1421130"/>
                    <a:pt x="4928870" y="0"/>
                    <a:pt x="3175000" y="0"/>
                  </a:cubicBezTo>
                  <a:lnTo>
                    <a:pt x="0" y="0"/>
                  </a:lnTo>
                  <a:lnTo>
                    <a:pt x="0" y="3175000"/>
                  </a:lnTo>
                  <a:cubicBezTo>
                    <a:pt x="0" y="4928870"/>
                    <a:pt x="1421130" y="6350000"/>
                    <a:pt x="3175000" y="6350000"/>
                  </a:cubicBezTo>
                  <a:cubicBezTo>
                    <a:pt x="4928870" y="6350000"/>
                    <a:pt x="6350000" y="4928870"/>
                    <a:pt x="6350000" y="3175000"/>
                  </a:cubicBezTo>
                  <a:close/>
                </a:path>
              </a:pathLst>
            </a:custGeom>
            <a:solidFill>
              <a:srgbClr val="000000"/>
            </a:solidFill>
          </p:spPr>
          <p:txBody>
            <a:bodyPr/>
            <a:lstStyle/>
            <a:p>
              <a:endParaRPr lang="ar-EG"/>
            </a:p>
          </p:txBody>
        </p:sp>
        <p:sp>
          <p:nvSpPr>
            <p:cNvPr id="11" name="Freeform 11"/>
            <p:cNvSpPr/>
            <p:nvPr/>
          </p:nvSpPr>
          <p:spPr>
            <a:xfrm>
              <a:off x="325223" y="364462"/>
              <a:ext cx="5646214" cy="5621077"/>
            </a:xfrm>
            <a:custGeom>
              <a:avLst/>
              <a:gdLst/>
              <a:ahLst/>
              <a:cxnLst/>
              <a:rect l="l" t="t" r="r" b="b"/>
              <a:pathLst>
                <a:path w="5646214" h="5621077">
                  <a:moveTo>
                    <a:pt x="2823107" y="28"/>
                  </a:moveTo>
                  <a:cubicBezTo>
                    <a:pt x="1816014" y="-4476"/>
                    <a:pt x="883489" y="530217"/>
                    <a:pt x="378638" y="1401642"/>
                  </a:cubicBezTo>
                  <a:cubicBezTo>
                    <a:pt x="-126213" y="2273067"/>
                    <a:pt x="-126213" y="3348009"/>
                    <a:pt x="378638" y="4219434"/>
                  </a:cubicBezTo>
                  <a:cubicBezTo>
                    <a:pt x="883489" y="5090859"/>
                    <a:pt x="1816014" y="5625552"/>
                    <a:pt x="2823107" y="5621048"/>
                  </a:cubicBezTo>
                  <a:cubicBezTo>
                    <a:pt x="3830200" y="5625552"/>
                    <a:pt x="4762725" y="5090859"/>
                    <a:pt x="5267576" y="4219434"/>
                  </a:cubicBezTo>
                  <a:cubicBezTo>
                    <a:pt x="5772427" y="3348009"/>
                    <a:pt x="5772427" y="2273067"/>
                    <a:pt x="5267576" y="1401642"/>
                  </a:cubicBezTo>
                  <a:cubicBezTo>
                    <a:pt x="4762725" y="530217"/>
                    <a:pt x="3830200" y="-4476"/>
                    <a:pt x="2823107" y="28"/>
                  </a:cubicBezTo>
                  <a:close/>
                </a:path>
              </a:pathLst>
            </a:custGeom>
            <a:blipFill>
              <a:blip r:embed="rId4"/>
              <a:stretch>
                <a:fillRect l="223" r="223"/>
              </a:stretch>
            </a:blipFill>
          </p:spPr>
          <p:txBody>
            <a:bodyPr/>
            <a:lstStyle/>
            <a:p>
              <a:endParaRPr lang="ar-EG"/>
            </a:p>
          </p:txBody>
        </p:sp>
      </p:grpSp>
      <p:sp>
        <p:nvSpPr>
          <p:cNvPr id="12" name="TextBox 12"/>
          <p:cNvSpPr txBox="1"/>
          <p:nvPr/>
        </p:nvSpPr>
        <p:spPr>
          <a:xfrm>
            <a:off x="1028700" y="923925"/>
            <a:ext cx="5052712"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CONCLUSION</a:t>
            </a:r>
          </a:p>
        </p:txBody>
      </p:sp>
      <p:sp>
        <p:nvSpPr>
          <p:cNvPr id="13" name="TextBox 13"/>
          <p:cNvSpPr txBox="1"/>
          <p:nvPr/>
        </p:nvSpPr>
        <p:spPr>
          <a:xfrm>
            <a:off x="393000" y="2033080"/>
            <a:ext cx="7635749" cy="6943222"/>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000000"/>
                </a:solidFill>
                <a:latin typeface="Poppins"/>
                <a:ea typeface="Poppins"/>
                <a:cs typeface="Poppins"/>
                <a:sym typeface="Poppins"/>
              </a:rPr>
              <a:t>A complete machine learning pipeline was developed to predict heart disease using medical and lifestyle data.</a:t>
            </a:r>
          </a:p>
          <a:p>
            <a:pPr marL="647700" lvl="1" indent="-323850" algn="l">
              <a:lnSpc>
                <a:spcPts val="4200"/>
              </a:lnSpc>
              <a:buFont typeface="Arial"/>
              <a:buChar char="•"/>
            </a:pPr>
            <a:r>
              <a:rPr lang="en-US" sz="3000">
                <a:solidFill>
                  <a:srgbClr val="000000"/>
                </a:solidFill>
                <a:latin typeface="Poppins"/>
                <a:ea typeface="Poppins"/>
                <a:cs typeface="Poppins"/>
                <a:sym typeface="Poppins"/>
              </a:rPr>
              <a:t>After extensive analysis, preprocessing, and model comparison, CatBoost achieved the best and most reliable performance.</a:t>
            </a:r>
          </a:p>
          <a:p>
            <a:pPr marL="647700" lvl="1" indent="-323850" algn="l">
              <a:lnSpc>
                <a:spcPts val="4200"/>
              </a:lnSpc>
              <a:buFont typeface="Arial"/>
              <a:buChar char="•"/>
            </a:pPr>
            <a:r>
              <a:rPr lang="en-US" sz="3000">
                <a:solidFill>
                  <a:srgbClr val="000000"/>
                </a:solidFill>
                <a:latin typeface="Poppins"/>
                <a:ea typeface="Poppins"/>
                <a:cs typeface="Poppins"/>
                <a:sym typeface="Poppins"/>
              </a:rPr>
              <a:t>The final model was deployed using Streamlit, enabling practical and accessible heart disease risk prediction.</a:t>
            </a:r>
          </a:p>
          <a:p>
            <a:pPr algn="l">
              <a:lnSpc>
                <a:spcPts val="4200"/>
              </a:lnSpc>
              <a:spcBef>
                <a:spcPct val="0"/>
              </a:spcBef>
            </a:pPr>
            <a:endParaRPr lang="en-US" sz="3000">
              <a:solidFill>
                <a:srgbClr val="000000"/>
              </a:solidFill>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ar-EG"/>
          </a:p>
        </p:txBody>
      </p:sp>
      <p:grpSp>
        <p:nvGrpSpPr>
          <p:cNvPr id="3" name="Group 3"/>
          <p:cNvGrpSpPr/>
          <p:nvPr/>
        </p:nvGrpSpPr>
        <p:grpSpPr>
          <a:xfrm>
            <a:off x="-635000" y="3706949"/>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ar-EG"/>
            </a:p>
          </p:txBody>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04900" y="3706949"/>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txBody>
            <a:bodyPr/>
            <a:lstStyle/>
            <a:p>
              <a:endParaRPr lang="ar-EG"/>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996797" y="3669211"/>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 YOU</a:t>
            </a:r>
          </a:p>
        </p:txBody>
      </p:sp>
      <p:grpSp>
        <p:nvGrpSpPr>
          <p:cNvPr id="10" name="Group 10"/>
          <p:cNvGrpSpPr/>
          <p:nvPr/>
        </p:nvGrpSpPr>
        <p:grpSpPr>
          <a:xfrm>
            <a:off x="5827799" y="5797475"/>
            <a:ext cx="6632402" cy="761278"/>
            <a:chOff x="0" y="0"/>
            <a:chExt cx="1746806" cy="200501"/>
          </a:xfrm>
        </p:grpSpPr>
        <p:sp>
          <p:nvSpPr>
            <p:cNvPr id="11" name="Freeform 11"/>
            <p:cNvSpPr/>
            <p:nvPr/>
          </p:nvSpPr>
          <p:spPr>
            <a:xfrm>
              <a:off x="0" y="0"/>
              <a:ext cx="1746806" cy="200501"/>
            </a:xfrm>
            <a:custGeom>
              <a:avLst/>
              <a:gdLst/>
              <a:ahLst/>
              <a:cxnLst/>
              <a:rect l="l" t="t" r="r" b="b"/>
              <a:pathLst>
                <a:path w="1746806" h="200501">
                  <a:moveTo>
                    <a:pt x="59532" y="0"/>
                  </a:moveTo>
                  <a:lnTo>
                    <a:pt x="1687274" y="0"/>
                  </a:lnTo>
                  <a:cubicBezTo>
                    <a:pt x="1720152" y="0"/>
                    <a:pt x="1746806" y="26653"/>
                    <a:pt x="1746806" y="59532"/>
                  </a:cubicBezTo>
                  <a:lnTo>
                    <a:pt x="1746806" y="140969"/>
                  </a:lnTo>
                  <a:cubicBezTo>
                    <a:pt x="1746806" y="173848"/>
                    <a:pt x="1720152" y="200501"/>
                    <a:pt x="1687274" y="200501"/>
                  </a:cubicBezTo>
                  <a:lnTo>
                    <a:pt x="59532" y="200501"/>
                  </a:lnTo>
                  <a:cubicBezTo>
                    <a:pt x="26653" y="200501"/>
                    <a:pt x="0" y="173848"/>
                    <a:pt x="0" y="140969"/>
                  </a:cubicBezTo>
                  <a:lnTo>
                    <a:pt x="0" y="59532"/>
                  </a:lnTo>
                  <a:cubicBezTo>
                    <a:pt x="0" y="26653"/>
                    <a:pt x="26653" y="0"/>
                    <a:pt x="59532" y="0"/>
                  </a:cubicBezTo>
                  <a:close/>
                </a:path>
              </a:pathLst>
            </a:custGeom>
            <a:solidFill>
              <a:srgbClr val="004AAD"/>
            </a:solidFill>
          </p:spPr>
          <p:txBody>
            <a:bodyPr/>
            <a:lstStyle/>
            <a:p>
              <a:endParaRPr lang="ar-EG"/>
            </a:p>
          </p:txBody>
        </p:sp>
        <p:sp>
          <p:nvSpPr>
            <p:cNvPr id="12" name="TextBox 12"/>
            <p:cNvSpPr txBox="1"/>
            <p:nvPr/>
          </p:nvSpPr>
          <p:spPr>
            <a:xfrm>
              <a:off x="0" y="-47625"/>
              <a:ext cx="1746806" cy="248126"/>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6140561" y="5881545"/>
            <a:ext cx="6006877" cy="535987"/>
          </a:xfrm>
          <a:prstGeom prst="rect">
            <a:avLst/>
          </a:prstGeom>
        </p:spPr>
        <p:txBody>
          <a:bodyPr lIns="0" tIns="0" rIns="0" bIns="0" rtlCol="0" anchor="t">
            <a:spAutoFit/>
          </a:bodyPr>
          <a:lstStyle/>
          <a:p>
            <a:pPr algn="ctr">
              <a:lnSpc>
                <a:spcPts val="4408"/>
              </a:lnSpc>
            </a:pPr>
            <a:r>
              <a:rPr lang="en-US" sz="3148" b="1">
                <a:solidFill>
                  <a:srgbClr val="FFFFFF"/>
                </a:solidFill>
                <a:latin typeface="League Spartan"/>
                <a:ea typeface="League Spartan"/>
                <a:cs typeface="League Spartan"/>
                <a:sym typeface="League Spartan"/>
              </a:rPr>
              <a:t>MOHAMED TAREK EL-ERAKY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1250</Words>
  <Application>Microsoft Office PowerPoint</Application>
  <PresentationFormat>Custom</PresentationFormat>
  <Paragraphs>167</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Roboto Bold</vt:lpstr>
      <vt:lpstr>Calibri</vt:lpstr>
      <vt:lpstr>Poppins</vt:lpstr>
      <vt:lpstr>Arial</vt:lpstr>
      <vt:lpstr>Archivo Black</vt:lpstr>
      <vt:lpstr>League Spartan</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white company profile presentation</dc:title>
  <cp:lastModifiedBy>Mohamed Tarek</cp:lastModifiedBy>
  <cp:revision>2</cp:revision>
  <dcterms:created xsi:type="dcterms:W3CDTF">2006-08-16T00:00:00Z</dcterms:created>
  <dcterms:modified xsi:type="dcterms:W3CDTF">2026-01-06T23:34:49Z</dcterms:modified>
  <dc:identifier>DAG9rRhENDo</dc:identifier>
</cp:coreProperties>
</file>